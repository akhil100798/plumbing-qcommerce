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200400"/>
          </a:xfrm>
          <a:prstGeom prst="rect">
            <a:avLst/>
          </a:prstGeom>
          <a:noFill/>
        </p:spPr>
        <p:txBody>
          <a:bodyPr wrap="square">
            <a:spAutoFit/>
          </a:bodyPr>
          <a:lstStyle/>
          <a:p>
            <a:pPr>
              <a:defRPr sz="2200" b="1">
                <a:solidFill>
                  <a:srgbClr val="2563EB"/>
                </a:solidFill>
              </a:defRPr>
            </a:pPr>
            <a:r>
              <a:t>FixKart Q-Commerce Platform</a:t>
            </a:r>
          </a:p>
          <a:p>
            <a:pPr>
              <a:defRPr sz="3600" b="1">
                <a:solidFill>
                  <a:srgbClr val="FFFFFF"/>
                </a:solidFill>
              </a:defRPr>
            </a:pPr>
            <a:r>
              <a:t>All Apps Complete Functionality &amp; Release Audit Report</a:t>
            </a:r>
          </a:p>
          <a:p>
            <a:pPr>
              <a:defRPr sz="1800">
                <a:solidFill>
                  <a:srgbClr val="94A3B8"/>
                </a:solidFill>
              </a:defRPr>
            </a:pPr>
            <a:r>
              <a:t>Comprehensive UI/UX, Backend API &amp; Cross-App Workflow Verification</a:t>
            </a:r>
          </a:p>
        </p:txBody>
      </p:sp>
      <p:sp>
        <p:nvSpPr>
          <p:cNvPr id="4" name="TextBox 3"/>
          <p:cNvSpPr txBox="1"/>
          <p:nvPr/>
        </p:nvSpPr>
        <p:spPr>
          <a:xfrm>
            <a:off x="914400" y="5303520"/>
            <a:ext cx="10362895" cy="1097280"/>
          </a:xfrm>
          <a:prstGeom prst="rect">
            <a:avLst/>
          </a:prstGeom>
          <a:noFill/>
        </p:spPr>
        <p:txBody>
          <a:bodyPr wrap="none">
            <a:spAutoFit/>
          </a:bodyPr>
          <a:lstStyle/>
          <a:p>
            <a:pPr>
              <a:defRPr sz="1400">
                <a:solidFill>
                  <a:srgbClr val="CBD5E1"/>
                </a:solidFill>
              </a:defRPr>
            </a:pPr>
            <a:r>
              <a:t>Environment: Render Staging / Vercel Web Deployments  |  Mobile Viewport: 390 x 844  |  Branch: Development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Executive Summary &amp; Release Verification</a:t>
            </a:r>
          </a:p>
          <a:p>
            <a:pPr>
              <a:defRPr sz="1200">
                <a:solidFill>
                  <a:srgbClr val="94A3B8"/>
                </a:solidFill>
              </a:defRPr>
            </a:pPr>
            <a:r>
              <a:t>Overview of FixKart Customer, Plumber, Store Apps and Backend Integration</a:t>
            </a:r>
          </a:p>
        </p:txBody>
      </p:sp>
      <p:sp>
        <p:nvSpPr>
          <p:cNvPr id="4" name="Rounded Rectangle 3"/>
          <p:cNvSpPr/>
          <p:nvPr/>
        </p:nvSpPr>
        <p:spPr>
          <a:xfrm>
            <a:off x="548640" y="1280160"/>
            <a:ext cx="11094415" cy="50292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10515600" cy="4572000"/>
          </a:xfrm>
          <a:prstGeom prst="rect">
            <a:avLst/>
          </a:prstGeom>
          <a:noFill/>
        </p:spPr>
        <p:txBody>
          <a:bodyPr wrap="square">
            <a:spAutoFit/>
          </a:bodyPr>
          <a:lstStyle/>
          <a:p/>
          <a:p>
            <a:pPr>
              <a:defRPr b="1" sz="1600">
                <a:solidFill>
                  <a:srgbClr val="0F172A"/>
                </a:solidFill>
              </a:defRPr>
            </a:pPr>
            <a:r>
              <a:t>•  Complete Mobile App Functionality Audit: </a:t>
            </a:r>
          </a:p>
          <a:p>
            <a:pPr>
              <a:defRPr sz="1400">
                <a:solidFill>
                  <a:srgbClr val="475569"/>
                </a:solidFill>
              </a:defRPr>
            </a:pPr>
            <a:r>
              <a:t>    Verified 77 total screens across Customer Web, Plumber Web, Store Web, and Cross-App Workflows under mobile viewport (390x844).</a:t>
            </a:r>
            <a:br/>
          </a:p>
          <a:p>
            <a:pPr>
              <a:defRPr b="1" sz="1600">
                <a:solidFill>
                  <a:srgbClr val="0F172A"/>
                </a:solidFill>
              </a:defRPr>
            </a:pPr>
            <a:r>
              <a:t>•  Resolved Critical Backend Defects: </a:t>
            </a:r>
          </a:p>
          <a:p>
            <a:pPr>
              <a:defRPr sz="1400">
                <a:solidFill>
                  <a:srgbClr val="475569"/>
                </a:solidFill>
              </a:defRPr>
            </a:pPr>
            <a:r>
              <a:t>    Remediated /api/v1/auth/me HTTP 500 failure, corrected role provisioning (Customer, Plumber, Store Manager, Admin), and verified production Actuator health (200 UP).</a:t>
            </a:r>
            <a:br/>
          </a:p>
          <a:p>
            <a:pPr>
              <a:defRPr b="1" sz="1600">
                <a:solidFill>
                  <a:srgbClr val="0F172A"/>
                </a:solidFill>
              </a:defRPr>
            </a:pPr>
            <a:r>
              <a:t>•  End-to-End Q-Commerce Lifecycle: </a:t>
            </a:r>
          </a:p>
          <a:p>
            <a:pPr>
              <a:defRPr sz="1400">
                <a:solidFill>
                  <a:srgbClr val="475569"/>
                </a:solidFill>
              </a:defRPr>
            </a:pPr>
            <a:r>
              <a:t>    Validated real-time service order creation, plumber job acceptance, material request generation, store inventory approval/preparation, material pickup, and work completion.</a:t>
            </a:r>
            <a:br/>
          </a:p>
          <a:p>
            <a:pPr>
              <a:defRPr b="1" sz="1600">
                <a:solidFill>
                  <a:srgbClr val="0F172A"/>
                </a:solidFill>
              </a:defRPr>
            </a:pPr>
            <a:r>
              <a:t>•  100% Operational Pass Status: </a:t>
            </a:r>
          </a:p>
          <a:p>
            <a:pPr>
              <a:defRPr sz="1400">
                <a:solidFill>
                  <a:srgbClr val="475569"/>
                </a:solidFill>
              </a:defRPr>
            </a:pPr>
            <a:r>
              <a:t>    All 77 screens render correctly with real backend API connectivity, active JWT session management, and responsive state handling.</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Architecture &amp; Deployment Environment Mapping</a:t>
            </a:r>
          </a:p>
          <a:p>
            <a:pPr>
              <a:defRPr sz="1200">
                <a:solidFill>
                  <a:srgbClr val="94A3B8"/>
                </a:solidFill>
              </a:defRPr>
            </a:pPr>
            <a:r>
              <a:t>Production / Staging Hostnames, Authentication &amp; QA Test Accounts</a:t>
            </a:r>
          </a:p>
        </p:txBody>
      </p:sp>
      <p:sp>
        <p:nvSpPr>
          <p:cNvPr id="4" name="Rounded Rectangle 3"/>
          <p:cNvSpPr/>
          <p:nvPr/>
        </p:nvSpPr>
        <p:spPr>
          <a:xfrm>
            <a:off x="548640" y="1371600"/>
            <a:ext cx="347472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3108960" cy="4572000"/>
          </a:xfrm>
          <a:prstGeom prst="rect">
            <a:avLst/>
          </a:prstGeom>
          <a:noFill/>
        </p:spPr>
        <p:txBody>
          <a:bodyPr wrap="square">
            <a:spAutoFit/>
          </a:bodyPr>
          <a:lstStyle/>
          <a:p>
            <a:pPr>
              <a:defRPr b="1" sz="1800">
                <a:solidFill>
                  <a:srgbClr val="2563EB"/>
                </a:solidFill>
              </a:defRPr>
            </a:pPr>
            <a:r>
              <a:t>Customer Web App</a:t>
            </a:r>
          </a:p>
          <a:p>
            <a:pPr>
              <a:defRPr sz="1300">
                <a:solidFill>
                  <a:srgbClr val="0F172A"/>
                </a:solidFill>
              </a:defRPr>
            </a:pPr>
            <a:r>
              <a:t>URL: https://fixkart-customer-web.vercel.app</a:t>
            </a:r>
          </a:p>
          <a:p>
            <a:pPr>
              <a:defRPr sz="1300">
                <a:solidFill>
                  <a:srgbClr val="0F172A"/>
                </a:solidFill>
              </a:defRPr>
            </a:pPr>
            <a:r>
              <a:t>Role: CUSTOMER</a:t>
            </a:r>
          </a:p>
          <a:p>
            <a:pPr>
              <a:defRPr sz="1300">
                <a:solidFill>
                  <a:srgbClr val="0F172A"/>
                </a:solidFill>
              </a:defRPr>
            </a:pPr>
            <a:r>
              <a:t>QA Account: customer@plumbcommerce.com</a:t>
            </a:r>
          </a:p>
          <a:p>
            <a:pPr>
              <a:defRPr sz="1300">
                <a:solidFill>
                  <a:srgbClr val="0F172A"/>
                </a:solidFill>
              </a:defRPr>
            </a:pPr>
            <a:r>
              <a:t>Features: Catalog browse, cart, addresses, plumber booking, material tracking, support tickets.</a:t>
            </a:r>
          </a:p>
          <a:p>
            <a:pPr>
              <a:defRPr sz="1300">
                <a:solidFill>
                  <a:srgbClr val="0F172A"/>
                </a:solidFill>
              </a:defRPr>
            </a:pPr>
            <a:r>
              <a:t>Status: 22 / 22 Screens PASSED</a:t>
            </a:r>
          </a:p>
        </p:txBody>
      </p:sp>
      <p:sp>
        <p:nvSpPr>
          <p:cNvPr id="6" name="Rounded Rectangle 5"/>
          <p:cNvSpPr/>
          <p:nvPr/>
        </p:nvSpPr>
        <p:spPr>
          <a:xfrm>
            <a:off x="4358030" y="1371600"/>
            <a:ext cx="347472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0910" y="1554480"/>
            <a:ext cx="3108960" cy="4572000"/>
          </a:xfrm>
          <a:prstGeom prst="rect">
            <a:avLst/>
          </a:prstGeom>
          <a:noFill/>
        </p:spPr>
        <p:txBody>
          <a:bodyPr wrap="square">
            <a:spAutoFit/>
          </a:bodyPr>
          <a:lstStyle/>
          <a:p>
            <a:pPr>
              <a:defRPr b="1" sz="1800">
                <a:solidFill>
                  <a:srgbClr val="2563EB"/>
                </a:solidFill>
              </a:defRPr>
            </a:pPr>
            <a:r>
              <a:t>Plumber Web App</a:t>
            </a:r>
          </a:p>
          <a:p>
            <a:pPr>
              <a:defRPr sz="1300">
                <a:solidFill>
                  <a:srgbClr val="0F172A"/>
                </a:solidFill>
              </a:defRPr>
            </a:pPr>
            <a:r>
              <a:t>URL: https://fixkart-plumber-web.vercel.app</a:t>
            </a:r>
          </a:p>
          <a:p>
            <a:pPr>
              <a:defRPr sz="1300">
                <a:solidFill>
                  <a:srgbClr val="0F172A"/>
                </a:solidFill>
              </a:defRPr>
            </a:pPr>
            <a:r>
              <a:t>Role: PLUMBER</a:t>
            </a:r>
          </a:p>
          <a:p>
            <a:pPr>
              <a:defRPr sz="1300">
                <a:solidFill>
                  <a:srgbClr val="0F172A"/>
                </a:solidFill>
              </a:defRPr>
            </a:pPr>
            <a:r>
              <a:t>QA Account: plumber@plumbcommerce.com</a:t>
            </a:r>
          </a:p>
          <a:p>
            <a:pPr>
              <a:defRPr sz="1300">
                <a:solidFill>
                  <a:srgbClr val="0F172A"/>
                </a:solidFill>
              </a:defRPr>
            </a:pPr>
            <a:r>
              <a:t>Features: Availability toggle, KYC, job acceptance, site arrival, material requests, store pickup, earnings.</a:t>
            </a:r>
          </a:p>
          <a:p>
            <a:pPr>
              <a:defRPr sz="1300">
                <a:solidFill>
                  <a:srgbClr val="0F172A"/>
                </a:solidFill>
              </a:defRPr>
            </a:pPr>
            <a:r>
              <a:t>Status: 23 / 23 Screens PASSED</a:t>
            </a:r>
          </a:p>
        </p:txBody>
      </p:sp>
      <p:sp>
        <p:nvSpPr>
          <p:cNvPr id="8" name="Rounded Rectangle 7"/>
          <p:cNvSpPr/>
          <p:nvPr/>
        </p:nvSpPr>
        <p:spPr>
          <a:xfrm>
            <a:off x="8168335" y="1371600"/>
            <a:ext cx="3474720" cy="4937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1215" y="1554480"/>
            <a:ext cx="3108960" cy="4572000"/>
          </a:xfrm>
          <a:prstGeom prst="rect">
            <a:avLst/>
          </a:prstGeom>
          <a:noFill/>
        </p:spPr>
        <p:txBody>
          <a:bodyPr wrap="square">
            <a:spAutoFit/>
          </a:bodyPr>
          <a:lstStyle/>
          <a:p>
            <a:pPr>
              <a:defRPr b="1" sz="1800">
                <a:solidFill>
                  <a:srgbClr val="2563EB"/>
                </a:solidFill>
              </a:defRPr>
            </a:pPr>
            <a:r>
              <a:t>Store Web App</a:t>
            </a:r>
          </a:p>
          <a:p>
            <a:pPr>
              <a:defRPr sz="1300">
                <a:solidFill>
                  <a:srgbClr val="0F172A"/>
                </a:solidFill>
              </a:defRPr>
            </a:pPr>
            <a:r>
              <a:t>URL: https://fixkart-store-web.vercel.app</a:t>
            </a:r>
          </a:p>
          <a:p>
            <a:pPr>
              <a:defRPr sz="1300">
                <a:solidFill>
                  <a:srgbClr val="0F172A"/>
                </a:solidFill>
              </a:defRPr>
            </a:pPr>
            <a:r>
              <a:t>Role: STORE_MANAGER</a:t>
            </a:r>
          </a:p>
          <a:p>
            <a:pPr>
              <a:defRPr sz="1300">
                <a:solidFill>
                  <a:srgbClr val="0F172A"/>
                </a:solidFill>
              </a:defRPr>
            </a:pPr>
            <a:r>
              <a:t>QA Account: store@plumbcommerce.com</a:t>
            </a:r>
          </a:p>
          <a:p>
            <a:pPr>
              <a:defRPr sz="1300">
                <a:solidFill>
                  <a:srgbClr val="0F172A"/>
                </a:solidFill>
              </a:defRPr>
            </a:pPr>
            <a:r>
              <a:t>Features: Inventory catalog, stock updates, low stock alerts, material request approvals, package staging, collection.</a:t>
            </a:r>
          </a:p>
          <a:p>
            <a:pPr>
              <a:defRPr sz="1300">
                <a:solidFill>
                  <a:srgbClr val="0F172A"/>
                </a:solidFill>
              </a:defRPr>
            </a:pPr>
            <a:r>
              <a:t>Status: 23 / 23 Screens PASSED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Complete App Screen Map &amp; Navigation Index</a:t>
            </a:r>
          </a:p>
          <a:p>
            <a:pPr>
              <a:defRPr sz="1200">
                <a:solidFill>
                  <a:srgbClr val="94A3B8"/>
                </a:solidFill>
              </a:defRPr>
            </a:pPr>
            <a:r>
              <a:t>Structured Categorization of All 77 Captured Mobile Screens</a:t>
            </a:r>
          </a:p>
        </p:txBody>
      </p:sp>
      <p:sp>
        <p:nvSpPr>
          <p:cNvPr id="4" name="TextBox 3"/>
          <p:cNvSpPr txBox="1"/>
          <p:nvPr/>
        </p:nvSpPr>
        <p:spPr>
          <a:xfrm>
            <a:off x="548640" y="1280160"/>
            <a:ext cx="11094415" cy="5120640"/>
          </a:xfrm>
          <a:prstGeom prst="rect">
            <a:avLst/>
          </a:prstGeom>
          <a:noFill/>
        </p:spPr>
        <p:txBody>
          <a:bodyPr wrap="square">
            <a:spAutoFit/>
          </a:bodyPr>
          <a:lstStyle/>
          <a:p/>
          <a:p>
            <a:pPr>
              <a:defRPr b="1" sz="1500">
                <a:solidFill>
                  <a:srgbClr val="2563EB"/>
                </a:solidFill>
              </a:defRPr>
            </a:pPr>
            <a:r>
              <a:t>Customer App (22 Screens)</a:t>
            </a:r>
          </a:p>
          <a:p>
            <a:pPr>
              <a:defRPr sz="1300">
                <a:solidFill>
                  <a:srgbClr val="0F172A"/>
                </a:solidFill>
              </a:defRPr>
            </a:pPr>
            <a:r>
              <a:t>Splash/Onboarding, Login, Register, Home, Services, Categories, Products, Product Detail, Stores, Store Detail, Cart, Checkout, Addresses, Address Form, Create Service Request, Order Detail, Order History, Material Tracking, Profile, Settings, Support, Logout.</a:t>
            </a:r>
            <a:br/>
          </a:p>
          <a:p>
            <a:pPr>
              <a:defRPr b="1" sz="1500">
                <a:solidFill>
                  <a:srgbClr val="2563EB"/>
                </a:solidFill>
              </a:defRPr>
            </a:pPr>
            <a:r>
              <a:t>Plumber App (23 Screens)</a:t>
            </a:r>
          </a:p>
          <a:p>
            <a:pPr>
              <a:defRPr sz="1300">
                <a:solidFill>
                  <a:srgbClr val="0F172A"/>
                </a:solidFill>
              </a:defRPr>
            </a:pPr>
            <a:r>
              <a:t>Login, Register, Dashboard, Online/Offline Toggle, KYC Status, Jobs List, Job Detail, Accept Job, Arrive Site, Start Work, Materials Required, Store Selection, Material Request, Material Tracking, Ready for Pickup, Arrive Store, Collect Materials, Resume Work, Complete Job, Earnings/Wallet, Profile, Settings, Logout.</a:t>
            </a:r>
            <a:br/>
          </a:p>
          <a:p>
            <a:pPr>
              <a:defRPr b="1" sz="1500">
                <a:solidFill>
                  <a:srgbClr val="2563EB"/>
                </a:solidFill>
              </a:defRPr>
            </a:pPr>
            <a:r>
              <a:t>Store App (23 Screens)</a:t>
            </a:r>
          </a:p>
          <a:p>
            <a:pPr>
              <a:defRPr sz="1300">
                <a:solidFill>
                  <a:srgbClr val="0F172A"/>
                </a:solidFill>
              </a:defRPr>
            </a:pPr>
            <a:r>
              <a:t>Login, Dashboard, Store Profile, Products Catalog, Product Detail, Inventory Management, Stock Update, Low Stock Alert, Material Requests, Request Detail, Full Approval, Partial Approval, Rejection, Preparation Status, Ready for Pickup, Plumber Arrival, Plumber Collection, Confirm Collection, Checkout Orders, Order History, Profile, Settings, Logout.</a:t>
            </a:r>
            <a:br/>
          </a:p>
          <a:p>
            <a:pPr>
              <a:defRPr b="1" sz="1500">
                <a:solidFill>
                  <a:srgbClr val="2563EB"/>
                </a:solidFill>
              </a:defRPr>
            </a:pPr>
            <a:r>
              <a:t>Cross-App Workflow (9 Steps)</a:t>
            </a:r>
          </a:p>
          <a:p>
            <a:pPr>
              <a:defRPr sz="1300">
                <a:solidFill>
                  <a:srgbClr val="0F172A"/>
                </a:solidFill>
              </a:defRPr>
            </a:pPr>
            <a:r>
              <a:t>Customer Create Request -&gt; Plumber Accept -&gt; Plumber Request Materials -&gt; Store Receive -&gt; Store Approve/Stage -&gt; Plumber Collect -&gt; Store Confirm -&gt; Plumber Complete -&gt; Customer Final Status.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2743200"/>
          </a:xfrm>
          <a:prstGeom prst="rect">
            <a:avLst/>
          </a:prstGeom>
          <a:noFill/>
        </p:spPr>
        <p:txBody>
          <a:bodyPr wrap="none">
            <a:spAutoFit/>
          </a:bodyPr>
          <a:lstStyle/>
          <a:p>
            <a:pPr>
              <a:defRPr sz="3800" b="1">
                <a:solidFill>
                  <a:srgbClr val="FFFFFF"/>
                </a:solidFill>
              </a:defRPr>
            </a:pPr>
            <a:r>
              <a:t>Customer Web Application</a:t>
            </a:r>
          </a:p>
          <a:p>
            <a:pPr>
              <a:defRPr sz="2000">
                <a:solidFill>
                  <a:srgbClr val="2563EB"/>
                </a:solidFill>
              </a:defRPr>
            </a:pPr>
            <a:r>
              <a:t>Complete Functionality &amp; UI Screen Audit</a:t>
            </a:r>
          </a:p>
          <a:p>
            <a:pPr>
              <a:defRPr sz="1600">
                <a:solidFill>
                  <a:srgbClr val="CBD5E1"/>
                </a:solidFill>
              </a:defRPr>
            </a:pPr>
            <a:r>
              <a:t>22 Captured Mobile Screens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Onboarding &amp; Splash Screen</a:t>
            </a:r>
          </a:p>
          <a:p>
            <a:pPr>
              <a:defRPr sz="1200">
                <a:solidFill>
                  <a:srgbClr val="94A3B8"/>
                </a:solidFill>
              </a:defRPr>
            </a:pPr>
            <a:r>
              <a:t>Screen ID: customer-01-splash-onboarding</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Onboarding &amp; Splash Screen</a:t>
            </a:r>
          </a:p>
          <a:p>
            <a:pPr>
              <a:defRPr b="1" sz="1400">
                <a:solidFill>
                  <a:srgbClr val="2563EB"/>
                </a:solidFill>
              </a:defRPr>
            </a:pPr>
            <a:r>
              <a:t>Purpose &amp; Functionality:</a:t>
            </a:r>
          </a:p>
          <a:p>
            <a:pPr>
              <a:defRPr sz="1300">
                <a:solidFill>
                  <a:srgbClr val="475569"/>
                </a:solidFill>
              </a:defRPr>
            </a:pPr>
            <a:r>
              <a:t>App entrance screen with promotional slides and navigation to login</a:t>
            </a:r>
          </a:p>
          <a:p>
            <a:pPr>
              <a:defRPr b="1" sz="1400">
                <a:solidFill>
                  <a:srgbClr val="2563EB"/>
                </a:solidFill>
              </a:defRPr>
            </a:pPr>
            <a:r>
              <a:t>Main Buttons &amp; UI Controls:</a:t>
            </a:r>
          </a:p>
          <a:p>
            <a:pPr>
              <a:defRPr sz="1300">
                <a:solidFill>
                  <a:srgbClr val="0F172A"/>
                </a:solidFill>
              </a:defRPr>
            </a:pPr>
            <a:r>
              <a:t>Skip, Next, Get Started</a:t>
            </a:r>
          </a:p>
          <a:p>
            <a:pPr>
              <a:defRPr b="1" sz="1400">
                <a:solidFill>
                  <a:srgbClr val="2563EB"/>
                </a:solidFill>
              </a:defRPr>
            </a:pPr>
            <a:r>
              <a:t>Backend &amp; API Integration:</a:t>
            </a:r>
          </a:p>
          <a:p>
            <a:pPr>
              <a:defRPr sz="1300">
                <a:solidFill>
                  <a:srgbClr val="0F172A"/>
                </a:solidFill>
              </a:defRPr>
            </a:pPr>
            <a:r>
              <a:t>GET /api/v1/catalog/categories</a:t>
            </a:r>
          </a:p>
          <a:p>
            <a:pPr>
              <a:defRPr b="1" sz="1500">
                <a:solidFill>
                  <a:srgbClr val="16A34A"/>
                </a:solidFill>
              </a:defRPr>
            </a:pPr>
            <a:r>
              <a:t>Functional Verification Status: PASS</a:t>
            </a:r>
          </a:p>
        </p:txBody>
      </p:sp>
      <p:pic>
        <p:nvPicPr>
          <p:cNvPr id="6" name="Picture 5" descr="customer-01-splash-onboarding.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Customer Login Screen</a:t>
            </a:r>
          </a:p>
          <a:p>
            <a:pPr>
              <a:defRPr sz="1200">
                <a:solidFill>
                  <a:srgbClr val="94A3B8"/>
                </a:solidFill>
              </a:defRPr>
            </a:pPr>
            <a:r>
              <a:t>Screen ID: customer-02-login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Customer Login Screen</a:t>
            </a:r>
          </a:p>
          <a:p>
            <a:pPr>
              <a:defRPr b="1" sz="1400">
                <a:solidFill>
                  <a:srgbClr val="2563EB"/>
                </a:solidFill>
              </a:defRPr>
            </a:pPr>
            <a:r>
              <a:t>Purpose &amp; Functionality:</a:t>
            </a:r>
          </a:p>
          <a:p>
            <a:pPr>
              <a:defRPr sz="1300">
                <a:solidFill>
                  <a:srgbClr val="475569"/>
                </a:solidFill>
              </a:defRPr>
            </a:pPr>
            <a:r>
              <a:t>Authenticates customer user via email/phone and password credentials</a:t>
            </a:r>
          </a:p>
          <a:p>
            <a:pPr>
              <a:defRPr b="1" sz="1400">
                <a:solidFill>
                  <a:srgbClr val="2563EB"/>
                </a:solidFill>
              </a:defRPr>
            </a:pPr>
            <a:r>
              <a:t>Main Buttons &amp; UI Controls:</a:t>
            </a:r>
          </a:p>
          <a:p>
            <a:pPr>
              <a:defRPr sz="1300">
                <a:solidFill>
                  <a:srgbClr val="0F172A"/>
                </a:solidFill>
              </a:defRPr>
            </a:pPr>
            <a:r>
              <a:t>Email/Phone Input, Password Input, Sign In, Register Link</a:t>
            </a:r>
          </a:p>
          <a:p>
            <a:pPr>
              <a:defRPr b="1" sz="1400">
                <a:solidFill>
                  <a:srgbClr val="2563EB"/>
                </a:solidFill>
              </a:defRPr>
            </a:pPr>
            <a:r>
              <a:t>Backend &amp; API Integration:</a:t>
            </a:r>
          </a:p>
          <a:p>
            <a:pPr>
              <a:defRPr sz="1300">
                <a:solidFill>
                  <a:srgbClr val="0F172A"/>
                </a:solidFill>
              </a:defRPr>
            </a:pPr>
            <a:r>
              <a:t>POST /api/v1/auth/login</a:t>
            </a:r>
          </a:p>
          <a:p>
            <a:pPr>
              <a:defRPr b="1" sz="1500">
                <a:solidFill>
                  <a:srgbClr val="16A34A"/>
                </a:solidFill>
              </a:defRPr>
            </a:pPr>
            <a:r>
              <a:t>Functional Verification Status: PASS</a:t>
            </a:r>
          </a:p>
        </p:txBody>
      </p:sp>
      <p:pic>
        <p:nvPicPr>
          <p:cNvPr id="6" name="Picture 5" descr="customer-02-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Customer Registration Screen</a:t>
            </a:r>
          </a:p>
          <a:p>
            <a:pPr>
              <a:defRPr sz="1200">
                <a:solidFill>
                  <a:srgbClr val="94A3B8"/>
                </a:solidFill>
              </a:defRPr>
            </a:pPr>
            <a:r>
              <a:t>Screen ID: customer-03-register</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Customer Registration Screen</a:t>
            </a:r>
          </a:p>
          <a:p>
            <a:pPr>
              <a:defRPr b="1" sz="1400">
                <a:solidFill>
                  <a:srgbClr val="2563EB"/>
                </a:solidFill>
              </a:defRPr>
            </a:pPr>
            <a:r>
              <a:t>Purpose &amp; Functionality:</a:t>
            </a:r>
          </a:p>
          <a:p>
            <a:pPr>
              <a:defRPr sz="1300">
                <a:solidFill>
                  <a:srgbClr val="475569"/>
                </a:solidFill>
              </a:defRPr>
            </a:pPr>
            <a:r>
              <a:t>Allows new customers to self-register an account</a:t>
            </a:r>
          </a:p>
          <a:p>
            <a:pPr>
              <a:defRPr b="1" sz="1400">
                <a:solidFill>
                  <a:srgbClr val="2563EB"/>
                </a:solidFill>
              </a:defRPr>
            </a:pPr>
            <a:r>
              <a:t>Main Buttons &amp; UI Controls:</a:t>
            </a:r>
          </a:p>
          <a:p>
            <a:pPr>
              <a:defRPr sz="1300">
                <a:solidFill>
                  <a:srgbClr val="0F172A"/>
                </a:solidFill>
              </a:defRPr>
            </a:pPr>
            <a:r>
              <a:t>Full Name, Email, Phone, Password, Confirm Password, Create Account</a:t>
            </a:r>
          </a:p>
          <a:p>
            <a:pPr>
              <a:defRPr b="1" sz="1400">
                <a:solidFill>
                  <a:srgbClr val="2563EB"/>
                </a:solidFill>
              </a:defRPr>
            </a:pPr>
            <a:r>
              <a:t>Backend &amp; API Integration:</a:t>
            </a:r>
          </a:p>
          <a:p>
            <a:pPr>
              <a:defRPr sz="1300">
                <a:solidFill>
                  <a:srgbClr val="0F172A"/>
                </a:solidFill>
              </a:defRPr>
            </a:pPr>
            <a:r>
              <a:t>POST /api/v1/auth/register</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Customer Home Screen</a:t>
            </a:r>
          </a:p>
          <a:p>
            <a:pPr>
              <a:defRPr sz="1200">
                <a:solidFill>
                  <a:srgbClr val="94A3B8"/>
                </a:solidFill>
              </a:defRPr>
            </a:pPr>
            <a:r>
              <a:t>Screen ID: customer-04-home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Customer Home Screen</a:t>
            </a:r>
          </a:p>
          <a:p>
            <a:pPr>
              <a:defRPr b="1" sz="1400">
                <a:solidFill>
                  <a:srgbClr val="2563EB"/>
                </a:solidFill>
              </a:defRPr>
            </a:pPr>
            <a:r>
              <a:t>Purpose &amp; Functionality:</a:t>
            </a:r>
          </a:p>
          <a:p>
            <a:pPr>
              <a:defRPr sz="1300">
                <a:solidFill>
                  <a:srgbClr val="475569"/>
                </a:solidFill>
              </a:defRPr>
            </a:pPr>
            <a:r>
              <a:t>Primary dashboard showcasing service categories, active order banners, and quick links</a:t>
            </a:r>
          </a:p>
          <a:p>
            <a:pPr>
              <a:defRPr b="1" sz="1400">
                <a:solidFill>
                  <a:srgbClr val="2563EB"/>
                </a:solidFill>
              </a:defRPr>
            </a:pPr>
            <a:r>
              <a:t>Main Buttons &amp; UI Controls:</a:t>
            </a:r>
          </a:p>
          <a:p>
            <a:pPr>
              <a:defRPr sz="1300">
                <a:solidFill>
                  <a:srgbClr val="0F172A"/>
                </a:solidFill>
              </a:defRPr>
            </a:pPr>
            <a:r>
              <a:t>Service Icons, Category Pills, Search Bar, Bottom Tabs</a:t>
            </a:r>
          </a:p>
          <a:p>
            <a:pPr>
              <a:defRPr b="1" sz="1400">
                <a:solidFill>
                  <a:srgbClr val="2563EB"/>
                </a:solidFill>
              </a:defRPr>
            </a:pPr>
            <a:r>
              <a:t>Backend &amp; API Integration:</a:t>
            </a:r>
          </a:p>
          <a:p>
            <a:pPr>
              <a:defRPr sz="1300">
                <a:solidFill>
                  <a:srgbClr val="0F172A"/>
                </a:solidFill>
              </a:defRPr>
            </a:pPr>
            <a:r>
              <a:t>GET /api/v1/auth/me, GET /api/v1/catalog/categories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Services / Book Plumber Screen</a:t>
            </a:r>
          </a:p>
          <a:p>
            <a:pPr>
              <a:defRPr sz="1200">
                <a:solidFill>
                  <a:srgbClr val="94A3B8"/>
                </a:solidFill>
              </a:defRPr>
            </a:pPr>
            <a:r>
              <a:t>Screen ID: customer-05-services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Services / Book Plumber Screen</a:t>
            </a:r>
          </a:p>
          <a:p>
            <a:pPr>
              <a:defRPr b="1" sz="1400">
                <a:solidFill>
                  <a:srgbClr val="2563EB"/>
                </a:solidFill>
              </a:defRPr>
            </a:pPr>
            <a:r>
              <a:t>Purpose &amp; Functionality:</a:t>
            </a:r>
          </a:p>
          <a:p>
            <a:pPr>
              <a:defRPr sz="1300">
                <a:solidFill>
                  <a:srgbClr val="475569"/>
                </a:solidFill>
              </a:defRPr>
            </a:pPr>
            <a:r>
              <a:t>Displays available plumbing services, labor estimates, and slot booking</a:t>
            </a:r>
          </a:p>
          <a:p>
            <a:pPr>
              <a:defRPr b="1" sz="1400">
                <a:solidFill>
                  <a:srgbClr val="2563EB"/>
                </a:solidFill>
              </a:defRPr>
            </a:pPr>
            <a:r>
              <a:t>Main Buttons &amp; UI Controls:</a:t>
            </a:r>
          </a:p>
          <a:p>
            <a:pPr>
              <a:defRPr sz="1300">
                <a:solidFill>
                  <a:srgbClr val="0F172A"/>
                </a:solidFill>
              </a:defRPr>
            </a:pPr>
            <a:r>
              <a:t>Book Service, Select Service Type, Confirm Address</a:t>
            </a:r>
          </a:p>
          <a:p>
            <a:pPr>
              <a:defRPr b="1" sz="1400">
                <a:solidFill>
                  <a:srgbClr val="2563EB"/>
                </a:solidFill>
              </a:defRPr>
            </a:pPr>
            <a:r>
              <a:t>Backend &amp; API Integration:</a:t>
            </a:r>
          </a:p>
          <a:p>
            <a:pPr>
              <a:defRPr sz="1300">
                <a:solidFill>
                  <a:srgbClr val="0F172A"/>
                </a:solidFill>
              </a:defRPr>
            </a:pPr>
            <a:r>
              <a:t>GET /api/v1/catalog/categories, GET /api/v1/users/me/addresses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Product Categories Screen</a:t>
            </a:r>
          </a:p>
          <a:p>
            <a:pPr>
              <a:defRPr sz="1200">
                <a:solidFill>
                  <a:srgbClr val="94A3B8"/>
                </a:solidFill>
              </a:defRPr>
            </a:pPr>
            <a:r>
              <a:t>Screen ID: customer-06-categories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Product Categories Screen</a:t>
            </a:r>
          </a:p>
          <a:p>
            <a:pPr>
              <a:defRPr b="1" sz="1400">
                <a:solidFill>
                  <a:srgbClr val="2563EB"/>
                </a:solidFill>
              </a:defRPr>
            </a:pPr>
            <a:r>
              <a:t>Purpose &amp; Functionality:</a:t>
            </a:r>
          </a:p>
          <a:p>
            <a:pPr>
              <a:defRPr sz="1300">
                <a:solidFill>
                  <a:srgbClr val="475569"/>
                </a:solidFill>
              </a:defRPr>
            </a:pPr>
            <a:r>
              <a:t>Catalog category browse list filtering plumbing materials and tools</a:t>
            </a:r>
          </a:p>
          <a:p>
            <a:pPr>
              <a:defRPr b="1" sz="1400">
                <a:solidFill>
                  <a:srgbClr val="2563EB"/>
                </a:solidFill>
              </a:defRPr>
            </a:pPr>
            <a:r>
              <a:t>Main Buttons &amp; UI Controls:</a:t>
            </a:r>
          </a:p>
          <a:p>
            <a:pPr>
              <a:defRPr sz="1300">
                <a:solidFill>
                  <a:srgbClr val="0F172A"/>
                </a:solidFill>
              </a:defRPr>
            </a:pPr>
            <a:r>
              <a:t>Category Cards, Search Filter, View Products</a:t>
            </a:r>
          </a:p>
          <a:p>
            <a:pPr>
              <a:defRPr b="1" sz="1400">
                <a:solidFill>
                  <a:srgbClr val="2563EB"/>
                </a:solidFill>
              </a:defRPr>
            </a:pPr>
            <a:r>
              <a:t>Backend &amp; API Integration:</a:t>
            </a:r>
          </a:p>
          <a:p>
            <a:pPr>
              <a:defRPr sz="1300">
                <a:solidFill>
                  <a:srgbClr val="0F172A"/>
                </a:solidFill>
              </a:defRPr>
            </a:pPr>
            <a:r>
              <a:t>GET /api/v1/catalog/categories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Products Catalog Screen</a:t>
            </a:r>
          </a:p>
          <a:p>
            <a:pPr>
              <a:defRPr sz="1200">
                <a:solidFill>
                  <a:srgbClr val="94A3B8"/>
                </a:solidFill>
              </a:defRPr>
            </a:pPr>
            <a:r>
              <a:t>Screen ID: customer-07-products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Products Catalog Screen</a:t>
            </a:r>
          </a:p>
          <a:p>
            <a:pPr>
              <a:defRPr b="1" sz="1400">
                <a:solidFill>
                  <a:srgbClr val="2563EB"/>
                </a:solidFill>
              </a:defRPr>
            </a:pPr>
            <a:r>
              <a:t>Purpose &amp; Functionality:</a:t>
            </a:r>
          </a:p>
          <a:p>
            <a:pPr>
              <a:defRPr sz="1300">
                <a:solidFill>
                  <a:srgbClr val="475569"/>
                </a:solidFill>
              </a:defRPr>
            </a:pPr>
            <a:r>
              <a:t>Displays product list with price, availability, and Add to Cart action</a:t>
            </a:r>
          </a:p>
          <a:p>
            <a:pPr>
              <a:defRPr b="1" sz="1400">
                <a:solidFill>
                  <a:srgbClr val="2563EB"/>
                </a:solidFill>
              </a:defRPr>
            </a:pPr>
            <a:r>
              <a:t>Main Buttons &amp; UI Controls:</a:t>
            </a:r>
          </a:p>
          <a:p>
            <a:pPr>
              <a:defRPr sz="1300">
                <a:solidFill>
                  <a:srgbClr val="0F172A"/>
                </a:solidFill>
              </a:defRPr>
            </a:pPr>
            <a:r>
              <a:t>Product Card, Add to Cart, Filter SKU</a:t>
            </a:r>
          </a:p>
          <a:p>
            <a:pPr>
              <a:defRPr b="1" sz="1400">
                <a:solidFill>
                  <a:srgbClr val="2563EB"/>
                </a:solidFill>
              </a:defRPr>
            </a:pPr>
            <a:r>
              <a:t>Backend &amp; API Integration:</a:t>
            </a:r>
          </a:p>
          <a:p>
            <a:pPr>
              <a:defRPr sz="1300">
                <a:solidFill>
                  <a:srgbClr val="0F172A"/>
                </a:solidFill>
              </a:defRPr>
            </a:pPr>
            <a:r>
              <a:t>GET /api/v1/catalog/products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Product Detail Screen</a:t>
            </a:r>
          </a:p>
          <a:p>
            <a:pPr>
              <a:defRPr sz="1200">
                <a:solidFill>
                  <a:srgbClr val="94A3B8"/>
                </a:solidFill>
              </a:defRPr>
            </a:pPr>
            <a:r>
              <a:t>Screen ID: customer-08-product-detail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Product Detail Screen</a:t>
            </a:r>
          </a:p>
          <a:p>
            <a:pPr>
              <a:defRPr b="1" sz="1400">
                <a:solidFill>
                  <a:srgbClr val="2563EB"/>
                </a:solidFill>
              </a:defRPr>
            </a:pPr>
            <a:r>
              <a:t>Purpose &amp; Functionality:</a:t>
            </a:r>
          </a:p>
          <a:p>
            <a:pPr>
              <a:defRPr sz="1300">
                <a:solidFill>
                  <a:srgbClr val="475569"/>
                </a:solidFill>
              </a:defRPr>
            </a:pPr>
            <a:r>
              <a:t>Presents item specifications, stock status, pricing, and quantity selection</a:t>
            </a:r>
          </a:p>
          <a:p>
            <a:pPr>
              <a:defRPr b="1" sz="1400">
                <a:solidFill>
                  <a:srgbClr val="2563EB"/>
                </a:solidFill>
              </a:defRPr>
            </a:pPr>
            <a:r>
              <a:t>Main Buttons &amp; UI Controls:</a:t>
            </a:r>
          </a:p>
          <a:p>
            <a:pPr>
              <a:defRPr sz="1300">
                <a:solidFill>
                  <a:srgbClr val="0F172A"/>
                </a:solidFill>
              </a:defRPr>
            </a:pPr>
            <a:r>
              <a:t>Quantity Selector, Add to Cart, Buy Now</a:t>
            </a:r>
          </a:p>
          <a:p>
            <a:pPr>
              <a:defRPr b="1" sz="1400">
                <a:solidFill>
                  <a:srgbClr val="2563EB"/>
                </a:solidFill>
              </a:defRPr>
            </a:pPr>
            <a:r>
              <a:t>Backend &amp; API Integration:</a:t>
            </a:r>
          </a:p>
          <a:p>
            <a:pPr>
              <a:defRPr sz="1300">
                <a:solidFill>
                  <a:srgbClr val="0F172A"/>
                </a:solidFill>
              </a:defRPr>
            </a:pPr>
            <a:r>
              <a:t>GET /api/v1/catalog/products/{id}</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Nearby Stores Screen</a:t>
            </a:r>
          </a:p>
          <a:p>
            <a:pPr>
              <a:defRPr sz="1200">
                <a:solidFill>
                  <a:srgbClr val="94A3B8"/>
                </a:solidFill>
              </a:defRPr>
            </a:pPr>
            <a:r>
              <a:t>Screen ID: customer-09-stores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Nearby Stores Screen</a:t>
            </a:r>
          </a:p>
          <a:p>
            <a:pPr>
              <a:defRPr b="1" sz="1400">
                <a:solidFill>
                  <a:srgbClr val="2563EB"/>
                </a:solidFill>
              </a:defRPr>
            </a:pPr>
            <a:r>
              <a:t>Purpose &amp; Functionality:</a:t>
            </a:r>
          </a:p>
          <a:p>
            <a:pPr>
              <a:defRPr sz="1300">
                <a:solidFill>
                  <a:srgbClr val="475569"/>
                </a:solidFill>
              </a:defRPr>
            </a:pPr>
            <a:r>
              <a:t>Displays participating Q-Commerce fulfillment stores in nearby radius</a:t>
            </a:r>
          </a:p>
          <a:p>
            <a:pPr>
              <a:defRPr b="1" sz="1400">
                <a:solidFill>
                  <a:srgbClr val="2563EB"/>
                </a:solidFill>
              </a:defRPr>
            </a:pPr>
            <a:r>
              <a:t>Main Buttons &amp; UI Controls:</a:t>
            </a:r>
          </a:p>
          <a:p>
            <a:pPr>
              <a:defRPr sz="1300">
                <a:solidFill>
                  <a:srgbClr val="0F172A"/>
                </a:solidFill>
              </a:defRPr>
            </a:pPr>
            <a:r>
              <a:t>Store Card, Distance Filter, View Inventory</a:t>
            </a:r>
          </a:p>
          <a:p>
            <a:pPr>
              <a:defRPr b="1" sz="1400">
                <a:solidFill>
                  <a:srgbClr val="2563EB"/>
                </a:solidFill>
              </a:defRPr>
            </a:pPr>
            <a:r>
              <a:t>Backend &amp; API Integration:</a:t>
            </a:r>
          </a:p>
          <a:p>
            <a:pPr>
              <a:defRPr sz="1300">
                <a:solidFill>
                  <a:srgbClr val="0F172A"/>
                </a:solidFill>
              </a:defRPr>
            </a:pPr>
            <a:r>
              <a:t>GET /api/v1/stores/nearby</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Store Detail &amp; Stock Screen</a:t>
            </a:r>
          </a:p>
          <a:p>
            <a:pPr>
              <a:defRPr sz="1200">
                <a:solidFill>
                  <a:srgbClr val="94A3B8"/>
                </a:solidFill>
              </a:defRPr>
            </a:pPr>
            <a:r>
              <a:t>Screen ID: customer-10-store-detail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Detail &amp; Stock Screen</a:t>
            </a:r>
          </a:p>
          <a:p>
            <a:pPr>
              <a:defRPr b="1" sz="1400">
                <a:solidFill>
                  <a:srgbClr val="2563EB"/>
                </a:solidFill>
              </a:defRPr>
            </a:pPr>
            <a:r>
              <a:t>Purpose &amp; Functionality:</a:t>
            </a:r>
          </a:p>
          <a:p>
            <a:pPr>
              <a:defRPr sz="1300">
                <a:solidFill>
                  <a:srgbClr val="475569"/>
                </a:solidFill>
              </a:defRPr>
            </a:pPr>
            <a:r>
              <a:t>Shows store operating hours, live stock inventory, and location details</a:t>
            </a:r>
          </a:p>
          <a:p>
            <a:pPr>
              <a:defRPr b="1" sz="1400">
                <a:solidFill>
                  <a:srgbClr val="2563EB"/>
                </a:solidFill>
              </a:defRPr>
            </a:pPr>
            <a:r>
              <a:t>Main Buttons &amp; UI Controls:</a:t>
            </a:r>
          </a:p>
          <a:p>
            <a:pPr>
              <a:defRPr sz="1300">
                <a:solidFill>
                  <a:srgbClr val="0F172A"/>
                </a:solidFill>
              </a:defRPr>
            </a:pPr>
            <a:r>
              <a:t>Store Info, Browse Stock, Contact Store</a:t>
            </a:r>
          </a:p>
          <a:p>
            <a:pPr>
              <a:defRPr b="1" sz="1400">
                <a:solidFill>
                  <a:srgbClr val="2563EB"/>
                </a:solidFill>
              </a:defRPr>
            </a:pPr>
            <a:r>
              <a:t>Backend &amp; API Integration:</a:t>
            </a:r>
          </a:p>
          <a:p>
            <a:pPr>
              <a:defRPr sz="1300">
                <a:solidFill>
                  <a:srgbClr val="0F172A"/>
                </a:solidFill>
              </a:defRPr>
            </a:pPr>
            <a:r>
              <a:t>GET /api/v1/stores/{id}, GET /api/v1/stores/{id}/inventory</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Cart &amp; Items Screen</a:t>
            </a:r>
          </a:p>
          <a:p>
            <a:pPr>
              <a:defRPr sz="1200">
                <a:solidFill>
                  <a:srgbClr val="94A3B8"/>
                </a:solidFill>
              </a:defRPr>
            </a:pPr>
            <a:r>
              <a:t>Screen ID: customer-11-cart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Cart &amp; Items Screen</a:t>
            </a:r>
          </a:p>
          <a:p>
            <a:pPr>
              <a:defRPr b="1" sz="1400">
                <a:solidFill>
                  <a:srgbClr val="2563EB"/>
                </a:solidFill>
              </a:defRPr>
            </a:pPr>
            <a:r>
              <a:t>Purpose &amp; Functionality:</a:t>
            </a:r>
          </a:p>
          <a:p>
            <a:pPr>
              <a:defRPr sz="1300">
                <a:solidFill>
                  <a:srgbClr val="475569"/>
                </a:solidFill>
              </a:defRPr>
            </a:pPr>
            <a:r>
              <a:t>Displays selected materials, quantities, itemized pricing, and checkout button</a:t>
            </a:r>
          </a:p>
          <a:p>
            <a:pPr>
              <a:defRPr b="1" sz="1400">
                <a:solidFill>
                  <a:srgbClr val="2563EB"/>
                </a:solidFill>
              </a:defRPr>
            </a:pPr>
            <a:r>
              <a:t>Main Buttons &amp; UI Controls:</a:t>
            </a:r>
          </a:p>
          <a:p>
            <a:pPr>
              <a:defRPr sz="1300">
                <a:solidFill>
                  <a:srgbClr val="0F172A"/>
                </a:solidFill>
              </a:defRPr>
            </a:pPr>
            <a:r>
              <a:t>Increment/Decrement Qty, Remove Item, Proceed to Checkout</a:t>
            </a:r>
          </a:p>
          <a:p>
            <a:pPr>
              <a:defRPr b="1" sz="1400">
                <a:solidFill>
                  <a:srgbClr val="2563EB"/>
                </a:solidFill>
              </a:defRPr>
            </a:pPr>
            <a:r>
              <a:t>Backend &amp; API Integration:</a:t>
            </a:r>
          </a:p>
          <a:p>
            <a:pPr>
              <a:defRPr sz="1300">
                <a:solidFill>
                  <a:srgbClr val="0F172A"/>
                </a:solidFill>
              </a:defRPr>
            </a:pPr>
            <a:r>
              <a:t>GET /api/v1/catalog/products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Checkout &amp; Payment Screen</a:t>
            </a:r>
          </a:p>
          <a:p>
            <a:pPr>
              <a:defRPr sz="1200">
                <a:solidFill>
                  <a:srgbClr val="94A3B8"/>
                </a:solidFill>
              </a:defRPr>
            </a:pPr>
            <a:r>
              <a:t>Screen ID: customer-12-checkout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Checkout &amp; Payment Screen</a:t>
            </a:r>
          </a:p>
          <a:p>
            <a:pPr>
              <a:defRPr b="1" sz="1400">
                <a:solidFill>
                  <a:srgbClr val="2563EB"/>
                </a:solidFill>
              </a:defRPr>
            </a:pPr>
            <a:r>
              <a:t>Purpose &amp; Functionality:</a:t>
            </a:r>
          </a:p>
          <a:p>
            <a:pPr>
              <a:defRPr sz="1300">
                <a:solidFill>
                  <a:srgbClr val="475569"/>
                </a:solidFill>
              </a:defRPr>
            </a:pPr>
            <a:r>
              <a:t>Review order summary, select delivery address, and confirm order creation</a:t>
            </a:r>
          </a:p>
          <a:p>
            <a:pPr>
              <a:defRPr b="1" sz="1400">
                <a:solidFill>
                  <a:srgbClr val="2563EB"/>
                </a:solidFill>
              </a:defRPr>
            </a:pPr>
            <a:r>
              <a:t>Main Buttons &amp; UI Controls:</a:t>
            </a:r>
          </a:p>
          <a:p>
            <a:pPr>
              <a:defRPr sz="1300">
                <a:solidFill>
                  <a:srgbClr val="0F172A"/>
                </a:solidFill>
              </a:defRPr>
            </a:pPr>
            <a:r>
              <a:t>Select Address, Payment Method, Confirm Order</a:t>
            </a:r>
          </a:p>
          <a:p>
            <a:pPr>
              <a:defRPr b="1" sz="1400">
                <a:solidFill>
                  <a:srgbClr val="2563EB"/>
                </a:solidFill>
              </a:defRPr>
            </a:pPr>
            <a:r>
              <a:t>Backend &amp; API Integration:</a:t>
            </a:r>
          </a:p>
          <a:p>
            <a:pPr>
              <a:defRPr sz="1300">
                <a:solidFill>
                  <a:srgbClr val="0F172A"/>
                </a:solidFill>
              </a:defRPr>
            </a:pPr>
            <a:r>
              <a:t>POST /api/v1/orders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Saved Addresses Screen</a:t>
            </a:r>
          </a:p>
          <a:p>
            <a:pPr>
              <a:defRPr sz="1200">
                <a:solidFill>
                  <a:srgbClr val="94A3B8"/>
                </a:solidFill>
              </a:defRPr>
            </a:pPr>
            <a:r>
              <a:t>Screen ID: customer-13-addresses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Saved Addresses Screen</a:t>
            </a:r>
          </a:p>
          <a:p>
            <a:pPr>
              <a:defRPr b="1" sz="1400">
                <a:solidFill>
                  <a:srgbClr val="2563EB"/>
                </a:solidFill>
              </a:defRPr>
            </a:pPr>
            <a:r>
              <a:t>Purpose &amp; Functionality:</a:t>
            </a:r>
          </a:p>
          <a:p>
            <a:pPr>
              <a:defRPr sz="1300">
                <a:solidFill>
                  <a:srgbClr val="475569"/>
                </a:solidFill>
              </a:defRPr>
            </a:pPr>
            <a:r>
              <a:t>Manage delivery locations, primary address designation, and address removal</a:t>
            </a:r>
          </a:p>
          <a:p>
            <a:pPr>
              <a:defRPr b="1" sz="1400">
                <a:solidFill>
                  <a:srgbClr val="2563EB"/>
                </a:solidFill>
              </a:defRPr>
            </a:pPr>
            <a:r>
              <a:t>Main Buttons &amp; UI Controls:</a:t>
            </a:r>
          </a:p>
          <a:p>
            <a:pPr>
              <a:defRPr sz="1300">
                <a:solidFill>
                  <a:srgbClr val="0F172A"/>
                </a:solidFill>
              </a:defRPr>
            </a:pPr>
            <a:r>
              <a:t>Add Address, Edit Address, Set Default</a:t>
            </a:r>
          </a:p>
          <a:p>
            <a:pPr>
              <a:defRPr b="1" sz="1400">
                <a:solidFill>
                  <a:srgbClr val="2563EB"/>
                </a:solidFill>
              </a:defRPr>
            </a:pPr>
            <a:r>
              <a:t>Backend &amp; API Integration:</a:t>
            </a:r>
          </a:p>
          <a:p>
            <a:pPr>
              <a:defRPr sz="1300">
                <a:solidFill>
                  <a:srgbClr val="0F172A"/>
                </a:solidFill>
              </a:defRPr>
            </a:pPr>
            <a:r>
              <a:t>GET /api/v1/users/me/addresses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Create / Edit Address Screen</a:t>
            </a:r>
          </a:p>
          <a:p>
            <a:pPr>
              <a:defRPr sz="1200">
                <a:solidFill>
                  <a:srgbClr val="94A3B8"/>
                </a:solidFill>
              </a:defRPr>
            </a:pPr>
            <a:r>
              <a:t>Screen ID: customer-14-create-edit-address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Create / Edit Address Screen</a:t>
            </a:r>
          </a:p>
          <a:p>
            <a:pPr>
              <a:defRPr b="1" sz="1400">
                <a:solidFill>
                  <a:srgbClr val="2563EB"/>
                </a:solidFill>
              </a:defRPr>
            </a:pPr>
            <a:r>
              <a:t>Purpose &amp; Functionality:</a:t>
            </a:r>
          </a:p>
          <a:p>
            <a:pPr>
              <a:defRPr sz="1300">
                <a:solidFill>
                  <a:srgbClr val="475569"/>
                </a:solidFill>
              </a:defRPr>
            </a:pPr>
            <a:r>
              <a:t>Form to add or update street address, landmark, pincode, and coordinates</a:t>
            </a:r>
          </a:p>
          <a:p>
            <a:pPr>
              <a:defRPr b="1" sz="1400">
                <a:solidFill>
                  <a:srgbClr val="2563EB"/>
                </a:solidFill>
              </a:defRPr>
            </a:pPr>
            <a:r>
              <a:t>Main Buttons &amp; UI Controls:</a:t>
            </a:r>
          </a:p>
          <a:p>
            <a:pPr>
              <a:defRPr sz="1300">
                <a:solidFill>
                  <a:srgbClr val="0F172A"/>
                </a:solidFill>
              </a:defRPr>
            </a:pPr>
            <a:r>
              <a:t>Address Line, City, Pincode, Save Address</a:t>
            </a:r>
          </a:p>
          <a:p>
            <a:pPr>
              <a:defRPr b="1" sz="1400">
                <a:solidFill>
                  <a:srgbClr val="2563EB"/>
                </a:solidFill>
              </a:defRPr>
            </a:pPr>
            <a:r>
              <a:t>Backend &amp; API Integration:</a:t>
            </a:r>
          </a:p>
          <a:p>
            <a:pPr>
              <a:defRPr sz="1300">
                <a:solidFill>
                  <a:srgbClr val="0F172A"/>
                </a:solidFill>
              </a:defRPr>
            </a:pPr>
            <a:r>
              <a:t>POST /api/v1/users/me/addresses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Create Service Request Screen</a:t>
            </a:r>
          </a:p>
          <a:p>
            <a:pPr>
              <a:defRPr sz="1200">
                <a:solidFill>
                  <a:srgbClr val="94A3B8"/>
                </a:solidFill>
              </a:defRPr>
            </a:pPr>
            <a:r>
              <a:t>Screen ID: customer-15-create-service-request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Create Service Request Screen</a:t>
            </a:r>
          </a:p>
          <a:p>
            <a:pPr>
              <a:defRPr b="1" sz="1400">
                <a:solidFill>
                  <a:srgbClr val="2563EB"/>
                </a:solidFill>
              </a:defRPr>
            </a:pPr>
            <a:r>
              <a:t>Purpose &amp; Functionality:</a:t>
            </a:r>
          </a:p>
          <a:p>
            <a:pPr>
              <a:defRPr sz="1300">
                <a:solidFill>
                  <a:srgbClr val="475569"/>
                </a:solidFill>
              </a:defRPr>
            </a:pPr>
            <a:r>
              <a:t>Form to describe plumbing issue, attach notes, select location, and dispatch plumber</a:t>
            </a:r>
          </a:p>
          <a:p>
            <a:pPr>
              <a:defRPr b="1" sz="1400">
                <a:solidFill>
                  <a:srgbClr val="2563EB"/>
                </a:solidFill>
              </a:defRPr>
            </a:pPr>
            <a:r>
              <a:t>Main Buttons &amp; UI Controls:</a:t>
            </a:r>
          </a:p>
          <a:p>
            <a:pPr>
              <a:defRPr sz="1300">
                <a:solidFill>
                  <a:srgbClr val="0F172A"/>
                </a:solidFill>
              </a:defRPr>
            </a:pPr>
            <a:r>
              <a:t>Description Field, Select Problem Type, Submit Request</a:t>
            </a:r>
          </a:p>
          <a:p>
            <a:pPr>
              <a:defRPr b="1" sz="1400">
                <a:solidFill>
                  <a:srgbClr val="2563EB"/>
                </a:solidFill>
              </a:defRPr>
            </a:pPr>
            <a:r>
              <a:t>Backend &amp; API Integration:</a:t>
            </a:r>
          </a:p>
          <a:p>
            <a:pPr>
              <a:defRPr sz="1300">
                <a:solidFill>
                  <a:srgbClr val="0F172A"/>
                </a:solidFill>
              </a:defRPr>
            </a:pPr>
            <a:r>
              <a:t>POST /api/v1/service-orders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Order Detail Screen</a:t>
            </a:r>
          </a:p>
          <a:p>
            <a:pPr>
              <a:defRPr sz="1200">
                <a:solidFill>
                  <a:srgbClr val="94A3B8"/>
                </a:solidFill>
              </a:defRPr>
            </a:pPr>
            <a:r>
              <a:t>Screen ID: customer-16-order-detail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Order Detail Screen</a:t>
            </a:r>
          </a:p>
          <a:p>
            <a:pPr>
              <a:defRPr b="1" sz="1400">
                <a:solidFill>
                  <a:srgbClr val="2563EB"/>
                </a:solidFill>
              </a:defRPr>
            </a:pPr>
            <a:r>
              <a:t>Purpose &amp; Functionality:</a:t>
            </a:r>
          </a:p>
          <a:p>
            <a:pPr>
              <a:defRPr sz="1300">
                <a:solidFill>
                  <a:srgbClr val="475569"/>
                </a:solidFill>
              </a:defRPr>
            </a:pPr>
            <a:r>
              <a:t>Live status view showing order state, assigned plumber details, and payment summary</a:t>
            </a:r>
          </a:p>
          <a:p>
            <a:pPr>
              <a:defRPr b="1" sz="1400">
                <a:solidFill>
                  <a:srgbClr val="2563EB"/>
                </a:solidFill>
              </a:defRPr>
            </a:pPr>
            <a:r>
              <a:t>Main Buttons &amp; UI Controls:</a:t>
            </a:r>
          </a:p>
          <a:p>
            <a:pPr>
              <a:defRPr sz="1300">
                <a:solidFill>
                  <a:srgbClr val="0F172A"/>
                </a:solidFill>
              </a:defRPr>
            </a:pPr>
            <a:r>
              <a:t>Cancel Order, Contact Plumber, Track Progress</a:t>
            </a:r>
          </a:p>
          <a:p>
            <a:pPr>
              <a:defRPr b="1" sz="1400">
                <a:solidFill>
                  <a:srgbClr val="2563EB"/>
                </a:solidFill>
              </a:defRPr>
            </a:pPr>
            <a:r>
              <a:t>Backend &amp; API Integration:</a:t>
            </a:r>
          </a:p>
          <a:p>
            <a:pPr>
              <a:defRPr sz="1300">
                <a:solidFill>
                  <a:srgbClr val="0F172A"/>
                </a:solidFill>
              </a:defRPr>
            </a:pPr>
            <a:r>
              <a:t>GET /api/v1/orders/{id}</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Order History Screen</a:t>
            </a:r>
          </a:p>
          <a:p>
            <a:pPr>
              <a:defRPr sz="1200">
                <a:solidFill>
                  <a:srgbClr val="94A3B8"/>
                </a:solidFill>
              </a:defRPr>
            </a:pPr>
            <a:r>
              <a:t>Screen ID: customer-17-order-history</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Order History Screen</a:t>
            </a:r>
          </a:p>
          <a:p>
            <a:pPr>
              <a:defRPr b="1" sz="1400">
                <a:solidFill>
                  <a:srgbClr val="2563EB"/>
                </a:solidFill>
              </a:defRPr>
            </a:pPr>
            <a:r>
              <a:t>Purpose &amp; Functionality:</a:t>
            </a:r>
          </a:p>
          <a:p>
            <a:pPr>
              <a:defRPr sz="1300">
                <a:solidFill>
                  <a:srgbClr val="475569"/>
                </a:solidFill>
              </a:defRPr>
            </a:pPr>
            <a:r>
              <a:t>Comprehensive log of active, completed, and cancelled service requests</a:t>
            </a:r>
          </a:p>
          <a:p>
            <a:pPr>
              <a:defRPr b="1" sz="1400">
                <a:solidFill>
                  <a:srgbClr val="2563EB"/>
                </a:solidFill>
              </a:defRPr>
            </a:pPr>
            <a:r>
              <a:t>Main Buttons &amp; UI Controls:</a:t>
            </a:r>
          </a:p>
          <a:p>
            <a:pPr>
              <a:defRPr sz="1300">
                <a:solidFill>
                  <a:srgbClr val="0F172A"/>
                </a:solidFill>
              </a:defRPr>
            </a:pPr>
            <a:r>
              <a:t>Filter Status, View Order Details, Rebook Service</a:t>
            </a:r>
          </a:p>
          <a:p>
            <a:pPr>
              <a:defRPr b="1" sz="1400">
                <a:solidFill>
                  <a:srgbClr val="2563EB"/>
                </a:solidFill>
              </a:defRPr>
            </a:pPr>
            <a:r>
              <a:t>Backend &amp; API Integration:</a:t>
            </a:r>
          </a:p>
          <a:p>
            <a:pPr>
              <a:defRPr sz="1300">
                <a:solidFill>
                  <a:srgbClr val="0F172A"/>
                </a:solidFill>
              </a:defRPr>
            </a:pPr>
            <a:r>
              <a:t>GET /api/v1/orders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Material Status &amp; Tracking Screen</a:t>
            </a:r>
          </a:p>
          <a:p>
            <a:pPr>
              <a:defRPr sz="1200">
                <a:solidFill>
                  <a:srgbClr val="94A3B8"/>
                </a:solidFill>
              </a:defRPr>
            </a:pPr>
            <a:r>
              <a:t>Screen ID: customer-18-material-tracking</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 Status &amp; Tracking Screen</a:t>
            </a:r>
          </a:p>
          <a:p>
            <a:pPr>
              <a:defRPr b="1" sz="1400">
                <a:solidFill>
                  <a:srgbClr val="2563EB"/>
                </a:solidFill>
              </a:defRPr>
            </a:pPr>
            <a:r>
              <a:t>Purpose &amp; Functionality:</a:t>
            </a:r>
          </a:p>
          <a:p>
            <a:pPr>
              <a:defRPr sz="1300">
                <a:solidFill>
                  <a:srgbClr val="475569"/>
                </a:solidFill>
              </a:defRPr>
            </a:pPr>
            <a:r>
              <a:t>Real-time visibility into required parts, approval, store pickup, and delivery to site</a:t>
            </a:r>
          </a:p>
          <a:p>
            <a:pPr>
              <a:defRPr b="1" sz="1400">
                <a:solidFill>
                  <a:srgbClr val="2563EB"/>
                </a:solidFill>
              </a:defRPr>
            </a:pPr>
            <a:r>
              <a:t>Main Buttons &amp; UI Controls:</a:t>
            </a:r>
          </a:p>
          <a:p>
            <a:pPr>
              <a:defRPr sz="1300">
                <a:solidFill>
                  <a:srgbClr val="0F172A"/>
                </a:solidFill>
              </a:defRPr>
            </a:pPr>
            <a:r>
              <a:t>Refresh Status, View Items List</a:t>
            </a:r>
          </a:p>
          <a:p>
            <a:pPr>
              <a:defRPr b="1" sz="1400">
                <a:solidFill>
                  <a:srgbClr val="2563EB"/>
                </a:solidFill>
              </a:defRPr>
            </a:pPr>
            <a:r>
              <a:t>Backend &amp; API Integration:</a:t>
            </a:r>
          </a:p>
          <a:p>
            <a:pPr>
              <a:defRPr sz="1300">
                <a:solidFill>
                  <a:srgbClr val="0F172A"/>
                </a:solidFill>
              </a:defRPr>
            </a:pPr>
            <a:r>
              <a:t>GET /api/v1/orders/{id}/materials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Customer Profile Screen</a:t>
            </a:r>
          </a:p>
          <a:p>
            <a:pPr>
              <a:defRPr sz="1200">
                <a:solidFill>
                  <a:srgbClr val="94A3B8"/>
                </a:solidFill>
              </a:defRPr>
            </a:pPr>
            <a:r>
              <a:t>Screen ID: customer-19-profile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Customer Profile Screen</a:t>
            </a:r>
          </a:p>
          <a:p>
            <a:pPr>
              <a:defRPr b="1" sz="1400">
                <a:solidFill>
                  <a:srgbClr val="2563EB"/>
                </a:solidFill>
              </a:defRPr>
            </a:pPr>
            <a:r>
              <a:t>Purpose &amp; Functionality:</a:t>
            </a:r>
          </a:p>
          <a:p>
            <a:pPr>
              <a:defRPr sz="1300">
                <a:solidFill>
                  <a:srgbClr val="475569"/>
                </a:solidFill>
              </a:defRPr>
            </a:pPr>
            <a:r>
              <a:t>Personal identity overview, registered email, phone number, and loyalty status</a:t>
            </a:r>
          </a:p>
          <a:p>
            <a:pPr>
              <a:defRPr b="1" sz="1400">
                <a:solidFill>
                  <a:srgbClr val="2563EB"/>
                </a:solidFill>
              </a:defRPr>
            </a:pPr>
            <a:r>
              <a:t>Main Buttons &amp; UI Controls:</a:t>
            </a:r>
          </a:p>
          <a:p>
            <a:pPr>
              <a:defRPr sz="1300">
                <a:solidFill>
                  <a:srgbClr val="0F172A"/>
                </a:solidFill>
              </a:defRPr>
            </a:pPr>
            <a:r>
              <a:t>Edit Profile, Change Password, View Addresses</a:t>
            </a:r>
          </a:p>
          <a:p>
            <a:pPr>
              <a:defRPr b="1" sz="1400">
                <a:solidFill>
                  <a:srgbClr val="2563EB"/>
                </a:solidFill>
              </a:defRPr>
            </a:pPr>
            <a:r>
              <a:t>Backend &amp; API Integration:</a:t>
            </a:r>
          </a:p>
          <a:p>
            <a:pPr>
              <a:defRPr sz="1300">
                <a:solidFill>
                  <a:srgbClr val="0F172A"/>
                </a:solidFill>
              </a:defRPr>
            </a:pPr>
            <a:r>
              <a:t>GET /api/v1/auth/me, GET /api/v1/users/me</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Settings &amp; Preferences Screen</a:t>
            </a:r>
          </a:p>
          <a:p>
            <a:pPr>
              <a:defRPr sz="1200">
                <a:solidFill>
                  <a:srgbClr val="94A3B8"/>
                </a:solidFill>
              </a:defRPr>
            </a:pPr>
            <a:r>
              <a:t>Screen ID: customer-20-settings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Settings &amp; Preferences Screen</a:t>
            </a:r>
          </a:p>
          <a:p>
            <a:pPr>
              <a:defRPr b="1" sz="1400">
                <a:solidFill>
                  <a:srgbClr val="2563EB"/>
                </a:solidFill>
              </a:defRPr>
            </a:pPr>
            <a:r>
              <a:t>Purpose &amp; Functionality:</a:t>
            </a:r>
          </a:p>
          <a:p>
            <a:pPr>
              <a:defRPr sz="1300">
                <a:solidFill>
                  <a:srgbClr val="475569"/>
                </a:solidFill>
              </a:defRPr>
            </a:pPr>
            <a:r>
              <a:t>App settings, notification toggles, language preferences, and privacy controls</a:t>
            </a:r>
          </a:p>
          <a:p>
            <a:pPr>
              <a:defRPr b="1" sz="1400">
                <a:solidFill>
                  <a:srgbClr val="2563EB"/>
                </a:solidFill>
              </a:defRPr>
            </a:pPr>
            <a:r>
              <a:t>Main Buttons &amp; UI Controls:</a:t>
            </a:r>
          </a:p>
          <a:p>
            <a:pPr>
              <a:defRPr sz="1300">
                <a:solidFill>
                  <a:srgbClr val="0F172A"/>
                </a:solidFill>
              </a:defRPr>
            </a:pPr>
            <a:r>
              <a:t>Notification Toggle, Privacy Policy, Language Selection</a:t>
            </a:r>
          </a:p>
          <a:p>
            <a:pPr>
              <a:defRPr b="1" sz="1400">
                <a:solidFill>
                  <a:srgbClr val="2563EB"/>
                </a:solidFill>
              </a:defRPr>
            </a:pPr>
            <a:r>
              <a:t>Backend &amp; API Integration:</a:t>
            </a:r>
          </a:p>
          <a:p>
            <a:pPr>
              <a:defRPr sz="1300">
                <a:solidFill>
                  <a:srgbClr val="0F172A"/>
                </a:solidFill>
              </a:defRPr>
            </a:pPr>
            <a:r>
              <a:t>GET /api/v1/users/me</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Support &amp; Help Desk Screen</a:t>
            </a:r>
          </a:p>
          <a:p>
            <a:pPr>
              <a:defRPr sz="1200">
                <a:solidFill>
                  <a:srgbClr val="94A3B8"/>
                </a:solidFill>
              </a:defRPr>
            </a:pPr>
            <a:r>
              <a:t>Screen ID: customer-21-support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Support &amp; Help Desk Screen</a:t>
            </a:r>
          </a:p>
          <a:p>
            <a:pPr>
              <a:defRPr b="1" sz="1400">
                <a:solidFill>
                  <a:srgbClr val="2563EB"/>
                </a:solidFill>
              </a:defRPr>
            </a:pPr>
            <a:r>
              <a:t>Purpose &amp; Functionality:</a:t>
            </a:r>
          </a:p>
          <a:p>
            <a:pPr>
              <a:defRPr sz="1300">
                <a:solidFill>
                  <a:srgbClr val="475569"/>
                </a:solidFill>
              </a:defRPr>
            </a:pPr>
            <a:r>
              <a:t>Customer support portal to raise tickets, message help center, and access FAQs</a:t>
            </a:r>
          </a:p>
          <a:p>
            <a:pPr>
              <a:defRPr b="1" sz="1400">
                <a:solidFill>
                  <a:srgbClr val="2563EB"/>
                </a:solidFill>
              </a:defRPr>
            </a:pPr>
            <a:r>
              <a:t>Main Buttons &amp; UI Controls:</a:t>
            </a:r>
          </a:p>
          <a:p>
            <a:pPr>
              <a:defRPr sz="1300">
                <a:solidFill>
                  <a:srgbClr val="0F172A"/>
                </a:solidFill>
              </a:defRPr>
            </a:pPr>
            <a:r>
              <a:t>Raise Ticket, Chat Support, Call Customer Service</a:t>
            </a:r>
          </a:p>
          <a:p>
            <a:pPr>
              <a:defRPr b="1" sz="1400">
                <a:solidFill>
                  <a:srgbClr val="2563EB"/>
                </a:solidFill>
              </a:defRPr>
            </a:pPr>
            <a:r>
              <a:t>Backend &amp; API Integration:</a:t>
            </a:r>
          </a:p>
          <a:p>
            <a:pPr>
              <a:defRPr sz="1300">
                <a:solidFill>
                  <a:srgbClr val="0F172A"/>
                </a:solidFill>
              </a:defRPr>
            </a:pPr>
            <a:r>
              <a:t>POST /api/v1/support/tickets</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Account Logout Confirmation Screen</a:t>
            </a:r>
          </a:p>
          <a:p>
            <a:pPr>
              <a:defRPr sz="1200">
                <a:solidFill>
                  <a:srgbClr val="94A3B8"/>
                </a:solidFill>
              </a:defRPr>
            </a:pPr>
            <a:r>
              <a:t>Screen ID: customer-22-logout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Account Logout Confirmation Screen</a:t>
            </a:r>
          </a:p>
          <a:p>
            <a:pPr>
              <a:defRPr b="1" sz="1400">
                <a:solidFill>
                  <a:srgbClr val="2563EB"/>
                </a:solidFill>
              </a:defRPr>
            </a:pPr>
            <a:r>
              <a:t>Purpose &amp; Functionality:</a:t>
            </a:r>
          </a:p>
          <a:p>
            <a:pPr>
              <a:defRPr sz="1300">
                <a:solidFill>
                  <a:srgbClr val="475569"/>
                </a:solidFill>
              </a:defRPr>
            </a:pPr>
            <a:r>
              <a:t>Prompts user confirmation before invalidating session and returning to login</a:t>
            </a:r>
          </a:p>
          <a:p>
            <a:pPr>
              <a:defRPr b="1" sz="1400">
                <a:solidFill>
                  <a:srgbClr val="2563EB"/>
                </a:solidFill>
              </a:defRPr>
            </a:pPr>
            <a:r>
              <a:t>Main Buttons &amp; UI Controls:</a:t>
            </a:r>
          </a:p>
          <a:p>
            <a:pPr>
              <a:defRPr sz="1300">
                <a:solidFill>
                  <a:srgbClr val="0F172A"/>
                </a:solidFill>
              </a:defRPr>
            </a:pPr>
            <a:r>
              <a:t>Confirm Logout, Cancel</a:t>
            </a:r>
          </a:p>
          <a:p>
            <a:pPr>
              <a:defRPr b="1" sz="1400">
                <a:solidFill>
                  <a:srgbClr val="2563EB"/>
                </a:solidFill>
              </a:defRPr>
            </a:pPr>
            <a:r>
              <a:t>Backend &amp; API Integration:</a:t>
            </a:r>
          </a:p>
          <a:p>
            <a:pPr>
              <a:defRPr sz="1300">
                <a:solidFill>
                  <a:srgbClr val="0F172A"/>
                </a:solidFill>
              </a:defRPr>
            </a:pPr>
            <a:r>
              <a:t>POST /api/v1/auth/logout</a:t>
            </a:r>
          </a:p>
          <a:p>
            <a:pPr>
              <a:defRPr b="1" sz="1500">
                <a:solidFill>
                  <a:srgbClr val="16A34A"/>
                </a:solidFill>
              </a:defRPr>
            </a:pPr>
            <a:r>
              <a:t>Functional Verification Status: PASS</a:t>
            </a:r>
          </a:p>
        </p:txBody>
      </p:sp>
      <p:pic>
        <p:nvPicPr>
          <p:cNvPr id="6" name="Picture 5" descr="customer-03-register.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Customer App Navigation &amp; API Matrix</a:t>
            </a:r>
          </a:p>
          <a:p>
            <a:pPr>
              <a:defRPr sz="1200">
                <a:solidFill>
                  <a:srgbClr val="94A3B8"/>
                </a:solidFill>
              </a:defRPr>
            </a:pPr>
            <a:r>
              <a:t>Screen, Action, and API Mapping Summary (22 Screens)</a:t>
            </a:r>
          </a:p>
        </p:txBody>
      </p:sp>
      <p:graphicFrame>
        <p:nvGraphicFramePr>
          <p:cNvPr id="4" name="Table 3"/>
          <p:cNvGraphicFramePr>
            <a:graphicFrameLocks noGrp="1"/>
          </p:cNvGraphicFramePr>
          <p:nvPr/>
        </p:nvGraphicFramePr>
        <p:xfrm>
          <a:off x="548640" y="1280160"/>
          <a:ext cx="11094415" cy="5120640"/>
        </p:xfrm>
        <a:graphic>
          <a:graphicData uri="http://schemas.openxmlformats.org/drawingml/2006/table">
            <a:tbl>
              <a:tblPr firstRow="1" bandRow="1">
                <a:tableStyleId>{5C22544A-7EE6-4342-B048-85BDC9FD1C3A}</a:tableStyleId>
              </a:tblPr>
              <a:tblGrid>
                <a:gridCol w="2011680"/>
                <a:gridCol w="3200400"/>
                <a:gridCol w="4572000"/>
                <a:gridCol w="1310335"/>
              </a:tblGrid>
              <a:tr h="365760">
                <a:tc>
                  <a:txBody>
                    <a:bodyPr/>
                    <a:lstStyle/>
                    <a:p>
                      <a:pPr>
                        <a:defRPr b="1" sz="1200">
                          <a:solidFill>
                            <a:srgbClr val="FFFFFF"/>
                          </a:solidFill>
                        </a:defRPr>
                      </a:pPr>
                      <a:r>
                        <a:t>Screen Name</a:t>
                      </a:r>
                    </a:p>
                  </a:txBody>
                  <a:tcPr>
                    <a:solidFill>
                      <a:srgbClr val="1E293B"/>
                    </a:solidFill>
                  </a:tcPr>
                </a:tc>
                <a:tc>
                  <a:txBody>
                    <a:bodyPr/>
                    <a:lstStyle/>
                    <a:p>
                      <a:pPr>
                        <a:defRPr b="1" sz="1200">
                          <a:solidFill>
                            <a:srgbClr val="FFFFFF"/>
                          </a:solidFill>
                        </a:defRPr>
                      </a:pPr>
                      <a:r>
                        <a:t>Main Actions</a:t>
                      </a:r>
                    </a:p>
                  </a:txBody>
                  <a:tcPr>
                    <a:solidFill>
                      <a:srgbClr val="1E293B"/>
                    </a:solidFill>
                  </a:tcPr>
                </a:tc>
                <a:tc>
                  <a:txBody>
                    <a:bodyPr/>
                    <a:lstStyle/>
                    <a:p>
                      <a:pPr>
                        <a:defRPr b="1" sz="1200">
                          <a:solidFill>
                            <a:srgbClr val="FFFFFF"/>
                          </a:solidFill>
                        </a:defRPr>
                      </a:pPr>
                      <a:r>
                        <a:t>Backend APIs</a:t>
                      </a:r>
                    </a:p>
                  </a:txBody>
                  <a:tcPr>
                    <a:solidFill>
                      <a:srgbClr val="1E293B"/>
                    </a:solidFill>
                  </a:tcPr>
                </a:tc>
                <a:tc>
                  <a:txBody>
                    <a:bodyPr/>
                    <a:lstStyle/>
                    <a:p>
                      <a:pPr>
                        <a:defRPr b="1" sz="1200">
                          <a:solidFill>
                            <a:srgbClr val="FFFFFF"/>
                          </a:solidFill>
                        </a:defRPr>
                      </a:pPr>
                      <a:r>
                        <a:t>Status</a:t>
                      </a:r>
                    </a:p>
                  </a:txBody>
                  <a:tcPr>
                    <a:solidFill>
                      <a:srgbClr val="1E293B"/>
                    </a:solidFill>
                  </a:tcPr>
                </a:tc>
              </a:tr>
              <a:tr h="365760">
                <a:tc>
                  <a:txBody>
                    <a:bodyPr/>
                    <a:lstStyle/>
                    <a:p>
                      <a:pPr>
                        <a:defRPr sz="1000">
                          <a:solidFill>
                            <a:srgbClr val="0F172A"/>
                          </a:solidFill>
                        </a:defRPr>
                      </a:pPr>
                      <a:r>
                        <a:t>Onboarding &amp; Splash Screen</a:t>
                      </a:r>
                    </a:p>
                  </a:txBody>
                  <a:tcPr/>
                </a:tc>
                <a:tc>
                  <a:txBody>
                    <a:bodyPr/>
                    <a:lstStyle/>
                    <a:p>
                      <a:pPr>
                        <a:defRPr sz="1000">
                          <a:solidFill>
                            <a:srgbClr val="0F172A"/>
                          </a:solidFill>
                        </a:defRPr>
                      </a:pPr>
                      <a:r>
                        <a:t>Skip, Next, Get Started</a:t>
                      </a:r>
                    </a:p>
                  </a:txBody>
                  <a:tcPr/>
                </a:tc>
                <a:tc>
                  <a:txBody>
                    <a:bodyPr/>
                    <a:lstStyle/>
                    <a:p>
                      <a:pPr>
                        <a:defRPr sz="1000">
                          <a:solidFill>
                            <a:srgbClr val="0F172A"/>
                          </a:solidFill>
                        </a:defRPr>
                      </a:pPr>
                      <a:r>
                        <a:t>GET /api/v1/catalog/categories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Customer Login Screen</a:t>
                      </a:r>
                    </a:p>
                  </a:txBody>
                  <a:tcPr/>
                </a:tc>
                <a:tc>
                  <a:txBody>
                    <a:bodyPr/>
                    <a:lstStyle/>
                    <a:p>
                      <a:pPr>
                        <a:defRPr sz="1000">
                          <a:solidFill>
                            <a:srgbClr val="0F172A"/>
                          </a:solidFill>
                        </a:defRPr>
                      </a:pPr>
                      <a:r>
                        <a:t>Email/Phone Input, Password Input, Sign In</a:t>
                      </a:r>
                    </a:p>
                  </a:txBody>
                  <a:tcPr/>
                </a:tc>
                <a:tc>
                  <a:txBody>
                    <a:bodyPr/>
                    <a:lstStyle/>
                    <a:p>
                      <a:pPr>
                        <a:defRPr sz="1000">
                          <a:solidFill>
                            <a:srgbClr val="0F172A"/>
                          </a:solidFill>
                        </a:defRPr>
                      </a:pPr>
                      <a:r>
                        <a:t>POST /api/v1/auth/login</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Customer Registration Screen</a:t>
                      </a:r>
                    </a:p>
                  </a:txBody>
                  <a:tcPr/>
                </a:tc>
                <a:tc>
                  <a:txBody>
                    <a:bodyPr/>
                    <a:lstStyle/>
                    <a:p>
                      <a:pPr>
                        <a:defRPr sz="1000">
                          <a:solidFill>
                            <a:srgbClr val="0F172A"/>
                          </a:solidFill>
                        </a:defRPr>
                      </a:pPr>
                      <a:r>
                        <a:t>Full Name, Email, Phone</a:t>
                      </a:r>
                    </a:p>
                  </a:txBody>
                  <a:tcPr/>
                </a:tc>
                <a:tc>
                  <a:txBody>
                    <a:bodyPr/>
                    <a:lstStyle/>
                    <a:p>
                      <a:pPr>
                        <a:defRPr sz="1000">
                          <a:solidFill>
                            <a:srgbClr val="0F172A"/>
                          </a:solidFill>
                        </a:defRPr>
                      </a:pPr>
                      <a:r>
                        <a:t>POST /api/v1/auth/register</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Customer Home Screen</a:t>
                      </a:r>
                    </a:p>
                  </a:txBody>
                  <a:tcPr/>
                </a:tc>
                <a:tc>
                  <a:txBody>
                    <a:bodyPr/>
                    <a:lstStyle/>
                    <a:p>
                      <a:pPr>
                        <a:defRPr sz="1000">
                          <a:solidFill>
                            <a:srgbClr val="0F172A"/>
                          </a:solidFill>
                        </a:defRPr>
                      </a:pPr>
                      <a:r>
                        <a:t>Service Icons, Category Pills, Search Bar</a:t>
                      </a:r>
                    </a:p>
                  </a:txBody>
                  <a:tcPr/>
                </a:tc>
                <a:tc>
                  <a:txBody>
                    <a:bodyPr/>
                    <a:lstStyle/>
                    <a:p>
                      <a:pPr>
                        <a:defRPr sz="1000">
                          <a:solidFill>
                            <a:srgbClr val="0F172A"/>
                          </a:solidFill>
                        </a:defRPr>
                      </a:pPr>
                      <a:r>
                        <a:t>GET /api/v1/auth/me, GET /api/v1/catalog/categories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Services / Book Plumber Screen</a:t>
                      </a:r>
                    </a:p>
                  </a:txBody>
                  <a:tcPr/>
                </a:tc>
                <a:tc>
                  <a:txBody>
                    <a:bodyPr/>
                    <a:lstStyle/>
                    <a:p>
                      <a:pPr>
                        <a:defRPr sz="1000">
                          <a:solidFill>
                            <a:srgbClr val="0F172A"/>
                          </a:solidFill>
                        </a:defRPr>
                      </a:pPr>
                      <a:r>
                        <a:t>Book Service, Select Service Type, Confirm Address</a:t>
                      </a:r>
                    </a:p>
                  </a:txBody>
                  <a:tcPr/>
                </a:tc>
                <a:tc>
                  <a:txBody>
                    <a:bodyPr/>
                    <a:lstStyle/>
                    <a:p>
                      <a:pPr>
                        <a:defRPr sz="1000">
                          <a:solidFill>
                            <a:srgbClr val="0F172A"/>
                          </a:solidFill>
                        </a:defRPr>
                      </a:pPr>
                      <a:r>
                        <a:t>GET /api/v1/catalog/categories, GET /api/v1/users/me/addresses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Product Categories Screen</a:t>
                      </a:r>
                    </a:p>
                  </a:txBody>
                  <a:tcPr/>
                </a:tc>
                <a:tc>
                  <a:txBody>
                    <a:bodyPr/>
                    <a:lstStyle/>
                    <a:p>
                      <a:pPr>
                        <a:defRPr sz="1000">
                          <a:solidFill>
                            <a:srgbClr val="0F172A"/>
                          </a:solidFill>
                        </a:defRPr>
                      </a:pPr>
                      <a:r>
                        <a:t>Category Cards, Search Filter, View Products</a:t>
                      </a:r>
                    </a:p>
                  </a:txBody>
                  <a:tcPr/>
                </a:tc>
                <a:tc>
                  <a:txBody>
                    <a:bodyPr/>
                    <a:lstStyle/>
                    <a:p>
                      <a:pPr>
                        <a:defRPr sz="1000">
                          <a:solidFill>
                            <a:srgbClr val="0F172A"/>
                          </a:solidFill>
                        </a:defRPr>
                      </a:pPr>
                      <a:r>
                        <a:t>GET /api/v1/catalog/categories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Products Catalog Screen</a:t>
                      </a:r>
                    </a:p>
                  </a:txBody>
                  <a:tcPr/>
                </a:tc>
                <a:tc>
                  <a:txBody>
                    <a:bodyPr/>
                    <a:lstStyle/>
                    <a:p>
                      <a:pPr>
                        <a:defRPr sz="1000">
                          <a:solidFill>
                            <a:srgbClr val="0F172A"/>
                          </a:solidFill>
                        </a:defRPr>
                      </a:pPr>
                      <a:r>
                        <a:t>Product Card, Add to Cart, Filter SKU</a:t>
                      </a:r>
                    </a:p>
                  </a:txBody>
                  <a:tcPr/>
                </a:tc>
                <a:tc>
                  <a:txBody>
                    <a:bodyPr/>
                    <a:lstStyle/>
                    <a:p>
                      <a:pPr>
                        <a:defRPr sz="1000">
                          <a:solidFill>
                            <a:srgbClr val="0F172A"/>
                          </a:solidFill>
                        </a:defRPr>
                      </a:pPr>
                      <a:r>
                        <a:t>GET /api/v1/catalog/products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Product Detail Screen</a:t>
                      </a:r>
                    </a:p>
                  </a:txBody>
                  <a:tcPr/>
                </a:tc>
                <a:tc>
                  <a:txBody>
                    <a:bodyPr/>
                    <a:lstStyle/>
                    <a:p>
                      <a:pPr>
                        <a:defRPr sz="1000">
                          <a:solidFill>
                            <a:srgbClr val="0F172A"/>
                          </a:solidFill>
                        </a:defRPr>
                      </a:pPr>
                      <a:r>
                        <a:t>Quantity Selector, Add to Cart, Buy Now</a:t>
                      </a:r>
                    </a:p>
                  </a:txBody>
                  <a:tcPr/>
                </a:tc>
                <a:tc>
                  <a:txBody>
                    <a:bodyPr/>
                    <a:lstStyle/>
                    <a:p>
                      <a:pPr>
                        <a:defRPr sz="1000">
                          <a:solidFill>
                            <a:srgbClr val="0F172A"/>
                          </a:solidFill>
                        </a:defRPr>
                      </a:pPr>
                      <a:r>
                        <a:t>GET /api/v1/catalog/products/{id}</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Nearby Stores Screen</a:t>
                      </a:r>
                    </a:p>
                  </a:txBody>
                  <a:tcPr/>
                </a:tc>
                <a:tc>
                  <a:txBody>
                    <a:bodyPr/>
                    <a:lstStyle/>
                    <a:p>
                      <a:pPr>
                        <a:defRPr sz="1000">
                          <a:solidFill>
                            <a:srgbClr val="0F172A"/>
                          </a:solidFill>
                        </a:defRPr>
                      </a:pPr>
                      <a:r>
                        <a:t>Store Card, Distance Filter, View Inventory</a:t>
                      </a:r>
                    </a:p>
                  </a:txBody>
                  <a:tcPr/>
                </a:tc>
                <a:tc>
                  <a:txBody>
                    <a:bodyPr/>
                    <a:lstStyle/>
                    <a:p>
                      <a:pPr>
                        <a:defRPr sz="1000">
                          <a:solidFill>
                            <a:srgbClr val="0F172A"/>
                          </a:solidFill>
                        </a:defRPr>
                      </a:pPr>
                      <a:r>
                        <a:t>GET /api/v1/stores/nearby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Store Detail &amp; Stock Screen</a:t>
                      </a:r>
                    </a:p>
                  </a:txBody>
                  <a:tcPr/>
                </a:tc>
                <a:tc>
                  <a:txBody>
                    <a:bodyPr/>
                    <a:lstStyle/>
                    <a:p>
                      <a:pPr>
                        <a:defRPr sz="1000">
                          <a:solidFill>
                            <a:srgbClr val="0F172A"/>
                          </a:solidFill>
                        </a:defRPr>
                      </a:pPr>
                      <a:r>
                        <a:t>Store Info, Browse Stock, Contact Store</a:t>
                      </a:r>
                    </a:p>
                  </a:txBody>
                  <a:tcPr/>
                </a:tc>
                <a:tc>
                  <a:txBody>
                    <a:bodyPr/>
                    <a:lstStyle/>
                    <a:p>
                      <a:pPr>
                        <a:defRPr sz="1000">
                          <a:solidFill>
                            <a:srgbClr val="0F172A"/>
                          </a:solidFill>
                        </a:defRPr>
                      </a:pPr>
                      <a:r>
                        <a:t>GET /api/v1/stores/{id}, GET /api/v1/stores/{id}/inventory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Cart &amp; Items Screen</a:t>
                      </a:r>
                    </a:p>
                  </a:txBody>
                  <a:tcPr/>
                </a:tc>
                <a:tc>
                  <a:txBody>
                    <a:bodyPr/>
                    <a:lstStyle/>
                    <a:p>
                      <a:pPr>
                        <a:defRPr sz="1000">
                          <a:solidFill>
                            <a:srgbClr val="0F172A"/>
                          </a:solidFill>
                        </a:defRPr>
                      </a:pPr>
                      <a:r>
                        <a:t>Increment/Decrement Qty, Remove Item, Proceed to Checkout</a:t>
                      </a:r>
                    </a:p>
                  </a:txBody>
                  <a:tcPr/>
                </a:tc>
                <a:tc>
                  <a:txBody>
                    <a:bodyPr/>
                    <a:lstStyle/>
                    <a:p>
                      <a:pPr>
                        <a:defRPr sz="1000">
                          <a:solidFill>
                            <a:srgbClr val="0F172A"/>
                          </a:solidFill>
                        </a:defRPr>
                      </a:pPr>
                      <a:r>
                        <a:t>GET /api/v1/catalog/products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Checkout &amp; Payment Screen</a:t>
                      </a:r>
                    </a:p>
                  </a:txBody>
                  <a:tcPr/>
                </a:tc>
                <a:tc>
                  <a:txBody>
                    <a:bodyPr/>
                    <a:lstStyle/>
                    <a:p>
                      <a:pPr>
                        <a:defRPr sz="1000">
                          <a:solidFill>
                            <a:srgbClr val="0F172A"/>
                          </a:solidFill>
                        </a:defRPr>
                      </a:pPr>
                      <a:r>
                        <a:t>Select Address, Payment Method, Confirm Order</a:t>
                      </a:r>
                    </a:p>
                  </a:txBody>
                  <a:tcPr/>
                </a:tc>
                <a:tc>
                  <a:txBody>
                    <a:bodyPr/>
                    <a:lstStyle/>
                    <a:p>
                      <a:pPr>
                        <a:defRPr sz="1000">
                          <a:solidFill>
                            <a:srgbClr val="0F172A"/>
                          </a:solidFill>
                        </a:defRPr>
                      </a:pPr>
                      <a:r>
                        <a:t>POST /api/v1/orders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Saved Addresses Screen</a:t>
                      </a:r>
                    </a:p>
                  </a:txBody>
                  <a:tcPr/>
                </a:tc>
                <a:tc>
                  <a:txBody>
                    <a:bodyPr/>
                    <a:lstStyle/>
                    <a:p>
                      <a:pPr>
                        <a:defRPr sz="1000">
                          <a:solidFill>
                            <a:srgbClr val="0F172A"/>
                          </a:solidFill>
                        </a:defRPr>
                      </a:pPr>
                      <a:r>
                        <a:t>Add Address, Edit Address, Set Default</a:t>
                      </a:r>
                    </a:p>
                  </a:txBody>
                  <a:tcPr/>
                </a:tc>
                <a:tc>
                  <a:txBody>
                    <a:bodyPr/>
                    <a:lstStyle/>
                    <a:p>
                      <a:pPr>
                        <a:defRPr sz="1000">
                          <a:solidFill>
                            <a:srgbClr val="0F172A"/>
                          </a:solidFill>
                        </a:defRPr>
                      </a:pPr>
                      <a:r>
                        <a:t>GET /api/v1/users/me/addresses</a:t>
                      </a:r>
                    </a:p>
                  </a:txBody>
                  <a:tcPr/>
                </a:tc>
                <a:tc>
                  <a:txBody>
                    <a:bodyPr/>
                    <a:lstStyle/>
                    <a:p>
                      <a:pPr>
                        <a:defRPr sz="1000" b="1">
                          <a:solidFill>
                            <a:srgbClr val="16A34A"/>
                          </a:solidFill>
                        </a:defRPr>
                      </a:pPr>
                      <a:r>
                        <a:t>PASS</a:t>
                      </a:r>
                    </a:p>
                  </a:txBody>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2743200"/>
          </a:xfrm>
          <a:prstGeom prst="rect">
            <a:avLst/>
          </a:prstGeom>
          <a:noFill/>
        </p:spPr>
        <p:txBody>
          <a:bodyPr wrap="none">
            <a:spAutoFit/>
          </a:bodyPr>
          <a:lstStyle/>
          <a:p>
            <a:pPr>
              <a:defRPr sz="3800" b="1">
                <a:solidFill>
                  <a:srgbClr val="FFFFFF"/>
                </a:solidFill>
              </a:defRPr>
            </a:pPr>
            <a:r>
              <a:t>Plumber Web Application</a:t>
            </a:r>
          </a:p>
          <a:p>
            <a:pPr>
              <a:defRPr sz="2000">
                <a:solidFill>
                  <a:srgbClr val="2563EB"/>
                </a:solidFill>
              </a:defRPr>
            </a:pPr>
            <a:r>
              <a:t>Partner Operations &amp; Field Execution Audit</a:t>
            </a:r>
          </a:p>
          <a:p>
            <a:pPr>
              <a:defRPr sz="1600">
                <a:solidFill>
                  <a:srgbClr val="CBD5E1"/>
                </a:solidFill>
              </a:defRPr>
            </a:pPr>
            <a:r>
              <a:t>23 Captured Mobile Screens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Login Screen</a:t>
            </a:r>
          </a:p>
          <a:p>
            <a:pPr>
              <a:defRPr sz="1200">
                <a:solidFill>
                  <a:srgbClr val="94A3B8"/>
                </a:solidFill>
              </a:defRPr>
            </a:pPr>
            <a:r>
              <a:t>Screen ID: plumber-01-login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Login Screen</a:t>
            </a:r>
          </a:p>
          <a:p>
            <a:pPr>
              <a:defRPr b="1" sz="1400">
                <a:solidFill>
                  <a:srgbClr val="2563EB"/>
                </a:solidFill>
              </a:defRPr>
            </a:pPr>
            <a:r>
              <a:t>Purpose &amp; Functionality:</a:t>
            </a:r>
          </a:p>
          <a:p>
            <a:pPr>
              <a:defRPr sz="1300">
                <a:solidFill>
                  <a:srgbClr val="475569"/>
                </a:solidFill>
              </a:defRPr>
            </a:pPr>
            <a:r>
              <a:t>Authenticates verified plumbers via registered email and credentials</a:t>
            </a:r>
          </a:p>
          <a:p>
            <a:pPr>
              <a:defRPr b="1" sz="1400">
                <a:solidFill>
                  <a:srgbClr val="2563EB"/>
                </a:solidFill>
              </a:defRPr>
            </a:pPr>
            <a:r>
              <a:t>Main Buttons &amp; UI Controls:</a:t>
            </a:r>
          </a:p>
          <a:p>
            <a:pPr>
              <a:defRPr sz="1300">
                <a:solidFill>
                  <a:srgbClr val="0F172A"/>
                </a:solidFill>
              </a:defRPr>
            </a:pPr>
            <a:r>
              <a:t>Email Input, Password Input, Sign In, Register Plumber</a:t>
            </a:r>
          </a:p>
          <a:p>
            <a:pPr>
              <a:defRPr b="1" sz="1400">
                <a:solidFill>
                  <a:srgbClr val="2563EB"/>
                </a:solidFill>
              </a:defRPr>
            </a:pPr>
            <a:r>
              <a:t>Backend &amp; API Integration:</a:t>
            </a:r>
          </a:p>
          <a:p>
            <a:pPr>
              <a:defRPr sz="1300">
                <a:solidFill>
                  <a:srgbClr val="0F172A"/>
                </a:solidFill>
              </a:defRPr>
            </a:pPr>
            <a:r>
              <a:t>POST /api/v1/auth/login</a:t>
            </a:r>
          </a:p>
          <a:p>
            <a:pPr>
              <a:defRPr b="1" sz="1500">
                <a:solidFill>
                  <a:srgbClr val="16A34A"/>
                </a:solidFill>
              </a:defRPr>
            </a:pPr>
            <a:r>
              <a:t>Functional Verification Status: PASS</a:t>
            </a:r>
          </a:p>
        </p:txBody>
      </p:sp>
      <p:pic>
        <p:nvPicPr>
          <p:cNvPr id="6" name="Picture 5" descr="plumber-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Self-Registration Screen</a:t>
            </a:r>
          </a:p>
          <a:p>
            <a:pPr>
              <a:defRPr sz="1200">
                <a:solidFill>
                  <a:srgbClr val="94A3B8"/>
                </a:solidFill>
              </a:defRPr>
            </a:pPr>
            <a:r>
              <a:t>Screen ID: plumber-02-register</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Self-Registration Screen</a:t>
            </a:r>
          </a:p>
          <a:p>
            <a:pPr>
              <a:defRPr b="1" sz="1400">
                <a:solidFill>
                  <a:srgbClr val="2563EB"/>
                </a:solidFill>
              </a:defRPr>
            </a:pPr>
            <a:r>
              <a:t>Purpose &amp; Functionality:</a:t>
            </a:r>
          </a:p>
          <a:p>
            <a:pPr>
              <a:defRPr sz="1300">
                <a:solidFill>
                  <a:srgbClr val="475569"/>
                </a:solidFill>
              </a:defRPr>
            </a:pPr>
            <a:r>
              <a:t>Self-registration form for new plumbing partners</a:t>
            </a:r>
          </a:p>
          <a:p>
            <a:pPr>
              <a:defRPr b="1" sz="1400">
                <a:solidFill>
                  <a:srgbClr val="2563EB"/>
                </a:solidFill>
              </a:defRPr>
            </a:pPr>
            <a:r>
              <a:t>Main Buttons &amp; UI Controls:</a:t>
            </a:r>
          </a:p>
          <a:p>
            <a:pPr>
              <a:defRPr sz="1300">
                <a:solidFill>
                  <a:srgbClr val="0F172A"/>
                </a:solidFill>
              </a:defRPr>
            </a:pPr>
            <a:r>
              <a:t>Full Name, Phone, Email, Password, Submit Registration</a:t>
            </a:r>
          </a:p>
          <a:p>
            <a:pPr>
              <a:defRPr b="1" sz="1400">
                <a:solidFill>
                  <a:srgbClr val="2563EB"/>
                </a:solidFill>
              </a:defRPr>
            </a:pPr>
            <a:r>
              <a:t>Backend &amp; API Integration:</a:t>
            </a:r>
          </a:p>
          <a:p>
            <a:pPr>
              <a:defRPr sz="1300">
                <a:solidFill>
                  <a:srgbClr val="0F172A"/>
                </a:solidFill>
              </a:defRPr>
            </a:pPr>
            <a:r>
              <a:t>POST /api/v1/auth/register/plumber</a:t>
            </a:r>
          </a:p>
          <a:p>
            <a:pPr>
              <a:defRPr b="1" sz="1500">
                <a:solidFill>
                  <a:srgbClr val="16A34A"/>
                </a:solidFill>
              </a:defRPr>
            </a:pPr>
            <a:r>
              <a:t>Functional Verification Status: PASS</a:t>
            </a:r>
          </a:p>
        </p:txBody>
      </p:sp>
      <p:pic>
        <p:nvPicPr>
          <p:cNvPr id="6" name="Picture 5" descr="plumber-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Operational Dashboard</a:t>
            </a:r>
          </a:p>
          <a:p>
            <a:pPr>
              <a:defRPr sz="1200">
                <a:solidFill>
                  <a:srgbClr val="94A3B8"/>
                </a:solidFill>
              </a:defRPr>
            </a:pPr>
            <a:r>
              <a:t>Screen ID: plumber-03-dashboard</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Operational Dashboard</a:t>
            </a:r>
          </a:p>
          <a:p>
            <a:pPr>
              <a:defRPr b="1" sz="1400">
                <a:solidFill>
                  <a:srgbClr val="2563EB"/>
                </a:solidFill>
              </a:defRPr>
            </a:pPr>
            <a:r>
              <a:t>Purpose &amp; Functionality:</a:t>
            </a:r>
          </a:p>
          <a:p>
            <a:pPr>
              <a:defRPr sz="1300">
                <a:solidFill>
                  <a:srgbClr val="475569"/>
                </a:solidFill>
              </a:defRPr>
            </a:pPr>
            <a:r>
              <a:t>Main dashboard displaying active job assignments, today earnings, ratings, and availability status</a:t>
            </a:r>
          </a:p>
          <a:p>
            <a:pPr>
              <a:defRPr b="1" sz="1400">
                <a:solidFill>
                  <a:srgbClr val="2563EB"/>
                </a:solidFill>
              </a:defRPr>
            </a:pPr>
            <a:r>
              <a:t>Main Buttons &amp; UI Controls:</a:t>
            </a:r>
          </a:p>
          <a:p>
            <a:pPr>
              <a:defRPr sz="1300">
                <a:solidFill>
                  <a:srgbClr val="0F172A"/>
                </a:solidFill>
              </a:defRPr>
            </a:pPr>
            <a:r>
              <a:t>Online/Offline Switch, View Upcoming Job, View Earnings, Start Job</a:t>
            </a:r>
          </a:p>
          <a:p>
            <a:pPr>
              <a:defRPr b="1" sz="1400">
                <a:solidFill>
                  <a:srgbClr val="2563EB"/>
                </a:solidFill>
              </a:defRPr>
            </a:pPr>
            <a:r>
              <a:t>Backend &amp; API Integration:</a:t>
            </a:r>
          </a:p>
          <a:p>
            <a:pPr>
              <a:defRPr sz="1300">
                <a:solidFill>
                  <a:srgbClr val="0F172A"/>
                </a:solidFill>
              </a:defRPr>
            </a:pPr>
            <a:r>
              <a:t>GET /api/v1/auth/me, GET /api/v1/plumber/dashboard</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Availability Status Toggle Screen</a:t>
            </a:r>
          </a:p>
          <a:p>
            <a:pPr>
              <a:defRPr sz="1200">
                <a:solidFill>
                  <a:srgbClr val="94A3B8"/>
                </a:solidFill>
              </a:defRPr>
            </a:pPr>
            <a:r>
              <a:t>Screen ID: plumber-04-online-offline-toggle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Availability Status Toggle Screen</a:t>
            </a:r>
          </a:p>
          <a:p>
            <a:pPr>
              <a:defRPr b="1" sz="1400">
                <a:solidFill>
                  <a:srgbClr val="2563EB"/>
                </a:solidFill>
              </a:defRPr>
            </a:pPr>
            <a:r>
              <a:t>Purpose &amp; Functionality:</a:t>
            </a:r>
          </a:p>
          <a:p>
            <a:pPr>
              <a:defRPr sz="1300">
                <a:solidFill>
                  <a:srgbClr val="475569"/>
                </a:solidFill>
              </a:defRPr>
            </a:pPr>
            <a:r>
              <a:t>Toggles plumber real-time availability to receive nearby service requests</a:t>
            </a:r>
          </a:p>
          <a:p>
            <a:pPr>
              <a:defRPr b="1" sz="1400">
                <a:solidFill>
                  <a:srgbClr val="2563EB"/>
                </a:solidFill>
              </a:defRPr>
            </a:pPr>
            <a:r>
              <a:t>Main Buttons &amp; UI Controls:</a:t>
            </a:r>
          </a:p>
          <a:p>
            <a:pPr>
              <a:defRPr sz="1300">
                <a:solidFill>
                  <a:srgbClr val="0F172A"/>
                </a:solidFill>
              </a:defRPr>
            </a:pPr>
            <a:r>
              <a:t>Toggle Online/Offline Status</a:t>
            </a:r>
          </a:p>
          <a:p>
            <a:pPr>
              <a:defRPr b="1" sz="1400">
                <a:solidFill>
                  <a:srgbClr val="2563EB"/>
                </a:solidFill>
              </a:defRPr>
            </a:pPr>
            <a:r>
              <a:t>Backend &amp; API Integration:</a:t>
            </a:r>
          </a:p>
          <a:p>
            <a:pPr>
              <a:defRPr sz="1300">
                <a:solidFill>
                  <a:srgbClr val="0F172A"/>
                </a:solidFill>
              </a:defRPr>
            </a:pPr>
            <a:r>
              <a:t>POST /api/v1/users/me/availability</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KYC &amp; Verification Screen</a:t>
            </a:r>
          </a:p>
          <a:p>
            <a:pPr>
              <a:defRPr sz="1200">
                <a:solidFill>
                  <a:srgbClr val="94A3B8"/>
                </a:solidFill>
              </a:defRPr>
            </a:pPr>
            <a:r>
              <a:t>Screen ID: plumber-05-kyc-status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KYC &amp; Verification Screen</a:t>
            </a:r>
          </a:p>
          <a:p>
            <a:pPr>
              <a:defRPr b="1" sz="1400">
                <a:solidFill>
                  <a:srgbClr val="2563EB"/>
                </a:solidFill>
              </a:defRPr>
            </a:pPr>
            <a:r>
              <a:t>Purpose &amp; Functionality:</a:t>
            </a:r>
          </a:p>
          <a:p>
            <a:pPr>
              <a:defRPr sz="1300">
                <a:solidFill>
                  <a:srgbClr val="475569"/>
                </a:solidFill>
              </a:defRPr>
            </a:pPr>
            <a:r>
              <a:t>Displays identity verification status, Aadhaar/PAN upload, and admin approval state</a:t>
            </a:r>
          </a:p>
          <a:p>
            <a:pPr>
              <a:defRPr b="1" sz="1400">
                <a:solidFill>
                  <a:srgbClr val="2563EB"/>
                </a:solidFill>
              </a:defRPr>
            </a:pPr>
            <a:r>
              <a:t>Main Buttons &amp; UI Controls:</a:t>
            </a:r>
          </a:p>
          <a:p>
            <a:pPr>
              <a:defRPr sz="1300">
                <a:solidFill>
                  <a:srgbClr val="0F172A"/>
                </a:solidFill>
              </a:defRPr>
            </a:pPr>
            <a:r>
              <a:t>Submit KYC Documents, View Approval Status</a:t>
            </a:r>
          </a:p>
          <a:p>
            <a:pPr>
              <a:defRPr b="1" sz="1400">
                <a:solidFill>
                  <a:srgbClr val="2563EB"/>
                </a:solidFill>
              </a:defRPr>
            </a:pPr>
            <a:r>
              <a:t>Backend &amp; API Integration:</a:t>
            </a:r>
          </a:p>
          <a:p>
            <a:pPr>
              <a:defRPr sz="1300">
                <a:solidFill>
                  <a:srgbClr val="0F172A"/>
                </a:solidFill>
              </a:defRPr>
            </a:pPr>
            <a:r>
              <a:t>GET /api/v1/plumber/kyc, POST /api/v1/plumber/kyc</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Assigned Jobs List Screen</a:t>
            </a:r>
          </a:p>
          <a:p>
            <a:pPr>
              <a:defRPr sz="1200">
                <a:solidFill>
                  <a:srgbClr val="94A3B8"/>
                </a:solidFill>
              </a:defRPr>
            </a:pPr>
            <a:r>
              <a:t>Screen ID: plumber-06-jobs-list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Assigned Jobs List Screen</a:t>
            </a:r>
          </a:p>
          <a:p>
            <a:pPr>
              <a:defRPr b="1" sz="1400">
                <a:solidFill>
                  <a:srgbClr val="2563EB"/>
                </a:solidFill>
              </a:defRPr>
            </a:pPr>
            <a:r>
              <a:t>Purpose &amp; Functionality:</a:t>
            </a:r>
          </a:p>
          <a:p>
            <a:pPr>
              <a:defRPr sz="1300">
                <a:solidFill>
                  <a:srgbClr val="475569"/>
                </a:solidFill>
              </a:defRPr>
            </a:pPr>
            <a:r>
              <a:t>Filterable list of assigned pending, active, and completed plumbing service jobs</a:t>
            </a:r>
          </a:p>
          <a:p>
            <a:pPr>
              <a:defRPr b="1" sz="1400">
                <a:solidFill>
                  <a:srgbClr val="2563EB"/>
                </a:solidFill>
              </a:defRPr>
            </a:pPr>
            <a:r>
              <a:t>Main Buttons &amp; UI Controls:</a:t>
            </a:r>
          </a:p>
          <a:p>
            <a:pPr>
              <a:defRPr sz="1300">
                <a:solidFill>
                  <a:srgbClr val="0F172A"/>
                </a:solidFill>
              </a:defRPr>
            </a:pPr>
            <a:r>
              <a:t>Filter Status (Pending/Active/Completed), Select Job Card</a:t>
            </a:r>
          </a:p>
          <a:p>
            <a:pPr>
              <a:defRPr b="1" sz="1400">
                <a:solidFill>
                  <a:srgbClr val="2563EB"/>
                </a:solidFill>
              </a:defRPr>
            </a:pPr>
            <a:r>
              <a:t>Backend &amp; API Integration:</a:t>
            </a:r>
          </a:p>
          <a:p>
            <a:pPr>
              <a:defRPr sz="1300">
                <a:solidFill>
                  <a:srgbClr val="0F172A"/>
                </a:solidFill>
              </a:defRPr>
            </a:pPr>
            <a:r>
              <a:t>GET /api/v1/plumber/dashboard</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Job Detail Screen</a:t>
            </a:r>
          </a:p>
          <a:p>
            <a:pPr>
              <a:defRPr sz="1200">
                <a:solidFill>
                  <a:srgbClr val="94A3B8"/>
                </a:solidFill>
              </a:defRPr>
            </a:pPr>
            <a:r>
              <a:t>Screen ID: plumber-07-job-detail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Job Detail Screen</a:t>
            </a:r>
          </a:p>
          <a:p>
            <a:pPr>
              <a:defRPr b="1" sz="1400">
                <a:solidFill>
                  <a:srgbClr val="2563EB"/>
                </a:solidFill>
              </a:defRPr>
            </a:pPr>
            <a:r>
              <a:t>Purpose &amp; Functionality:</a:t>
            </a:r>
          </a:p>
          <a:p>
            <a:pPr>
              <a:defRPr sz="1300">
                <a:solidFill>
                  <a:srgbClr val="475569"/>
                </a:solidFill>
              </a:defRPr>
            </a:pPr>
            <a:r>
              <a:t>Displays customer address, issue description, estimated payout, and workflow actions</a:t>
            </a:r>
          </a:p>
          <a:p>
            <a:pPr>
              <a:defRPr b="1" sz="1400">
                <a:solidFill>
                  <a:srgbClr val="2563EB"/>
                </a:solidFill>
              </a:defRPr>
            </a:pPr>
            <a:r>
              <a:t>Main Buttons &amp; UI Controls:</a:t>
            </a:r>
          </a:p>
          <a:p>
            <a:pPr>
              <a:defRPr sz="1300">
                <a:solidFill>
                  <a:srgbClr val="0F172A"/>
                </a:solidFill>
              </a:defRPr>
            </a:pPr>
            <a:r>
              <a:t>Accept Job, Navigate to Site, Request Materials</a:t>
            </a:r>
          </a:p>
          <a:p>
            <a:pPr>
              <a:defRPr b="1" sz="1400">
                <a:solidFill>
                  <a:srgbClr val="2563EB"/>
                </a:solidFill>
              </a:defRPr>
            </a:pPr>
            <a:r>
              <a:t>Backend &amp; API Integration:</a:t>
            </a:r>
          </a:p>
          <a:p>
            <a:pPr>
              <a:defRPr sz="1300">
                <a:solidFill>
                  <a:srgbClr val="0F172A"/>
                </a:solidFill>
              </a:defRPr>
            </a:pPr>
            <a:r>
              <a:t>GET /api/v1/orders/{id}</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Job Acceptance Confirmation Screen</a:t>
            </a:r>
          </a:p>
          <a:p>
            <a:pPr>
              <a:defRPr sz="1200">
                <a:solidFill>
                  <a:srgbClr val="94A3B8"/>
                </a:solidFill>
              </a:defRPr>
            </a:pPr>
            <a:r>
              <a:t>Screen ID: plumber-08-accept-job</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Job Acceptance Confirmation Screen</a:t>
            </a:r>
          </a:p>
          <a:p>
            <a:pPr>
              <a:defRPr b="1" sz="1400">
                <a:solidFill>
                  <a:srgbClr val="2563EB"/>
                </a:solidFill>
              </a:defRPr>
            </a:pPr>
            <a:r>
              <a:t>Purpose &amp; Functionality:</a:t>
            </a:r>
          </a:p>
          <a:p>
            <a:pPr>
              <a:defRPr sz="1300">
                <a:solidFill>
                  <a:srgbClr val="475569"/>
                </a:solidFill>
              </a:defRPr>
            </a:pPr>
            <a:r>
              <a:t>Confirms job assignment and transitions order state to ASSIGNED</a:t>
            </a:r>
          </a:p>
          <a:p>
            <a:pPr>
              <a:defRPr b="1" sz="1400">
                <a:solidFill>
                  <a:srgbClr val="2563EB"/>
                </a:solidFill>
              </a:defRPr>
            </a:pPr>
            <a:r>
              <a:t>Main Buttons &amp; UI Controls:</a:t>
            </a:r>
          </a:p>
          <a:p>
            <a:pPr>
              <a:defRPr sz="1300">
                <a:solidFill>
                  <a:srgbClr val="0F172A"/>
                </a:solidFill>
              </a:defRPr>
            </a:pPr>
            <a:r>
              <a:t>Confirm Acceptance, Decline Job</a:t>
            </a:r>
          </a:p>
          <a:p>
            <a:pPr>
              <a:defRPr b="1" sz="1400">
                <a:solidFill>
                  <a:srgbClr val="2563EB"/>
                </a:solidFill>
              </a:defRPr>
            </a:pPr>
            <a:r>
              <a:t>Backend &amp; API Integration:</a:t>
            </a:r>
          </a:p>
          <a:p>
            <a:pPr>
              <a:defRPr sz="1300">
                <a:solidFill>
                  <a:srgbClr val="0F172A"/>
                </a:solidFill>
              </a:defRPr>
            </a:pPr>
            <a:r>
              <a:t>POST /api/v1/orders/{id}/accept</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Arrive at Customer Site Screen</a:t>
            </a:r>
          </a:p>
          <a:p>
            <a:pPr>
              <a:defRPr sz="1200">
                <a:solidFill>
                  <a:srgbClr val="94A3B8"/>
                </a:solidFill>
              </a:defRPr>
            </a:pPr>
            <a:r>
              <a:t>Screen ID: plumber-09-arrive-at-site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Arrive at Customer Site Screen</a:t>
            </a:r>
          </a:p>
          <a:p>
            <a:pPr>
              <a:defRPr b="1" sz="1400">
                <a:solidFill>
                  <a:srgbClr val="2563EB"/>
                </a:solidFill>
              </a:defRPr>
            </a:pPr>
            <a:r>
              <a:t>Purpose &amp; Functionality:</a:t>
            </a:r>
          </a:p>
          <a:p>
            <a:pPr>
              <a:defRPr sz="1300">
                <a:solidFill>
                  <a:srgbClr val="475569"/>
                </a:solidFill>
              </a:defRPr>
            </a:pPr>
            <a:r>
              <a:t>Marks plumber physical arrival at customer location</a:t>
            </a:r>
          </a:p>
          <a:p>
            <a:pPr>
              <a:defRPr b="1" sz="1400">
                <a:solidFill>
                  <a:srgbClr val="2563EB"/>
                </a:solidFill>
              </a:defRPr>
            </a:pPr>
            <a:r>
              <a:t>Main Buttons &amp; UI Controls:</a:t>
            </a:r>
          </a:p>
          <a:p>
            <a:pPr>
              <a:defRPr sz="1300">
                <a:solidFill>
                  <a:srgbClr val="0F172A"/>
                </a:solidFill>
              </a:defRPr>
            </a:pPr>
            <a:r>
              <a:t>Confirm Site Arrival, Contact Customer</a:t>
            </a:r>
          </a:p>
          <a:p>
            <a:pPr>
              <a:defRPr b="1" sz="1400">
                <a:solidFill>
                  <a:srgbClr val="2563EB"/>
                </a:solidFill>
              </a:defRPr>
            </a:pPr>
            <a:r>
              <a:t>Backend &amp; API Integration:</a:t>
            </a:r>
          </a:p>
          <a:p>
            <a:pPr>
              <a:defRPr sz="1300">
                <a:solidFill>
                  <a:srgbClr val="0F172A"/>
                </a:solidFill>
              </a:defRPr>
            </a:pPr>
            <a:r>
              <a:t>POST /api/v1/orders/{id}/arrive</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Work Started &amp; Inspection Screen</a:t>
            </a:r>
          </a:p>
          <a:p>
            <a:pPr>
              <a:defRPr sz="1200">
                <a:solidFill>
                  <a:srgbClr val="94A3B8"/>
                </a:solidFill>
              </a:defRPr>
            </a:pPr>
            <a:r>
              <a:t>Screen ID: plumber-10-start-work</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 Started &amp; Inspection Screen</a:t>
            </a:r>
          </a:p>
          <a:p>
            <a:pPr>
              <a:defRPr b="1" sz="1400">
                <a:solidFill>
                  <a:srgbClr val="2563EB"/>
                </a:solidFill>
              </a:defRPr>
            </a:pPr>
            <a:r>
              <a:t>Purpose &amp; Functionality:</a:t>
            </a:r>
          </a:p>
          <a:p>
            <a:pPr>
              <a:defRPr sz="1300">
                <a:solidFill>
                  <a:srgbClr val="475569"/>
                </a:solidFill>
              </a:defRPr>
            </a:pPr>
            <a:r>
              <a:t>Transitions order to IN_PROGRESS state to begin diagnosis</a:t>
            </a:r>
          </a:p>
          <a:p>
            <a:pPr>
              <a:defRPr b="1" sz="1400">
                <a:solidFill>
                  <a:srgbClr val="2563EB"/>
                </a:solidFill>
              </a:defRPr>
            </a:pPr>
            <a:r>
              <a:t>Main Buttons &amp; UI Controls:</a:t>
            </a:r>
          </a:p>
          <a:p>
            <a:pPr>
              <a:defRPr sz="1300">
                <a:solidFill>
                  <a:srgbClr val="0F172A"/>
                </a:solidFill>
              </a:defRPr>
            </a:pPr>
            <a:r>
              <a:t>Request Materials Needed, Complete Job Without Parts</a:t>
            </a:r>
          </a:p>
          <a:p>
            <a:pPr>
              <a:defRPr b="1" sz="1400">
                <a:solidFill>
                  <a:srgbClr val="2563EB"/>
                </a:solidFill>
              </a:defRPr>
            </a:pPr>
            <a:r>
              <a:t>Backend &amp; API Integration:</a:t>
            </a:r>
          </a:p>
          <a:p>
            <a:pPr>
              <a:defRPr sz="1300">
                <a:solidFill>
                  <a:srgbClr val="0F172A"/>
                </a:solidFill>
              </a:defRPr>
            </a:pPr>
            <a:r>
              <a:t>POST /api/v1/orders/{id}/start</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Materials Selection Screen</a:t>
            </a:r>
          </a:p>
          <a:p>
            <a:pPr>
              <a:defRPr sz="1200">
                <a:solidFill>
                  <a:srgbClr val="94A3B8"/>
                </a:solidFill>
              </a:defRPr>
            </a:pPr>
            <a:r>
              <a:t>Screen ID: plumber-11-materials-required</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Materials Selection Screen</a:t>
            </a:r>
          </a:p>
          <a:p>
            <a:pPr>
              <a:defRPr b="1" sz="1400">
                <a:solidFill>
                  <a:srgbClr val="2563EB"/>
                </a:solidFill>
              </a:defRPr>
            </a:pPr>
            <a:r>
              <a:t>Purpose &amp; Functionality:</a:t>
            </a:r>
          </a:p>
          <a:p>
            <a:pPr>
              <a:defRPr sz="1300">
                <a:solidFill>
                  <a:srgbClr val="475569"/>
                </a:solidFill>
              </a:defRPr>
            </a:pPr>
            <a:r>
              <a:t>Interface to select replacement plumbing parts, fittings, and quantities required for repair</a:t>
            </a:r>
          </a:p>
          <a:p>
            <a:pPr>
              <a:defRPr b="1" sz="1400">
                <a:solidFill>
                  <a:srgbClr val="2563EB"/>
                </a:solidFill>
              </a:defRPr>
            </a:pPr>
            <a:r>
              <a:t>Main Buttons &amp; UI Controls:</a:t>
            </a:r>
          </a:p>
          <a:p>
            <a:pPr>
              <a:defRPr sz="1300">
                <a:solidFill>
                  <a:srgbClr val="0F172A"/>
                </a:solidFill>
              </a:defRPr>
            </a:pPr>
            <a:r>
              <a:t>Add Product SKU, Set Quantity, Select Store</a:t>
            </a:r>
          </a:p>
          <a:p>
            <a:pPr>
              <a:defRPr b="1" sz="1400">
                <a:solidFill>
                  <a:srgbClr val="2563EB"/>
                </a:solidFill>
              </a:defRPr>
            </a:pPr>
            <a:r>
              <a:t>Backend &amp; API Integration:</a:t>
            </a:r>
          </a:p>
          <a:p>
            <a:pPr>
              <a:defRPr sz="1300">
                <a:solidFill>
                  <a:srgbClr val="0F172A"/>
                </a:solidFill>
              </a:defRPr>
            </a:pPr>
            <a:r>
              <a:t>GET /api/v1/catalog/products</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Fulfillment Store Selection Screen</a:t>
            </a:r>
          </a:p>
          <a:p>
            <a:pPr>
              <a:defRPr sz="1200">
                <a:solidFill>
                  <a:srgbClr val="94A3B8"/>
                </a:solidFill>
              </a:defRPr>
            </a:pPr>
            <a:r>
              <a:t>Screen ID: plumber-12-store-selection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Fulfillment Store Selection Screen</a:t>
            </a:r>
          </a:p>
          <a:p>
            <a:pPr>
              <a:defRPr b="1" sz="1400">
                <a:solidFill>
                  <a:srgbClr val="2563EB"/>
                </a:solidFill>
              </a:defRPr>
            </a:pPr>
            <a:r>
              <a:t>Purpose &amp; Functionality:</a:t>
            </a:r>
          </a:p>
          <a:p>
            <a:pPr>
              <a:defRPr sz="1300">
                <a:solidFill>
                  <a:srgbClr val="475569"/>
                </a:solidFill>
              </a:defRPr>
            </a:pPr>
            <a:r>
              <a:t>Selects nearest Q-Commerce store for fast material pickup</a:t>
            </a:r>
          </a:p>
          <a:p>
            <a:pPr>
              <a:defRPr b="1" sz="1400">
                <a:solidFill>
                  <a:srgbClr val="2563EB"/>
                </a:solidFill>
              </a:defRPr>
            </a:pPr>
            <a:r>
              <a:t>Main Buttons &amp; UI Controls:</a:t>
            </a:r>
          </a:p>
          <a:p>
            <a:pPr>
              <a:defRPr sz="1300">
                <a:solidFill>
                  <a:srgbClr val="0F172A"/>
                </a:solidFill>
              </a:defRPr>
            </a:pPr>
            <a:r>
              <a:t>Select Store, Compare Distance</a:t>
            </a:r>
          </a:p>
          <a:p>
            <a:pPr>
              <a:defRPr b="1" sz="1400">
                <a:solidFill>
                  <a:srgbClr val="2563EB"/>
                </a:solidFill>
              </a:defRPr>
            </a:pPr>
            <a:r>
              <a:t>Backend &amp; API Integration:</a:t>
            </a:r>
          </a:p>
          <a:p>
            <a:pPr>
              <a:defRPr sz="1300">
                <a:solidFill>
                  <a:srgbClr val="0F172A"/>
                </a:solidFill>
              </a:defRPr>
            </a:pPr>
            <a:r>
              <a:t>GET /api/v1/stores/nearby</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Material Request Created Screen</a:t>
            </a:r>
          </a:p>
          <a:p>
            <a:pPr>
              <a:defRPr sz="1200">
                <a:solidFill>
                  <a:srgbClr val="94A3B8"/>
                </a:solidFill>
              </a:defRPr>
            </a:pPr>
            <a:r>
              <a:t>Screen ID: plumber-13-material-request-creation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 Request Created Screen</a:t>
            </a:r>
          </a:p>
          <a:p>
            <a:pPr>
              <a:defRPr b="1" sz="1400">
                <a:solidFill>
                  <a:srgbClr val="2563EB"/>
                </a:solidFill>
              </a:defRPr>
            </a:pPr>
            <a:r>
              <a:t>Purpose &amp; Functionality:</a:t>
            </a:r>
          </a:p>
          <a:p>
            <a:pPr>
              <a:defRPr sz="1300">
                <a:solidFill>
                  <a:srgbClr val="475569"/>
                </a:solidFill>
              </a:defRPr>
            </a:pPr>
            <a:r>
              <a:t>Confirms creation of material request dispatched to Store Manager</a:t>
            </a:r>
          </a:p>
          <a:p>
            <a:pPr>
              <a:defRPr b="1" sz="1400">
                <a:solidFill>
                  <a:srgbClr val="2563EB"/>
                </a:solidFill>
              </a:defRPr>
            </a:pPr>
            <a:r>
              <a:t>Main Buttons &amp; UI Controls:</a:t>
            </a:r>
          </a:p>
          <a:p>
            <a:pPr>
              <a:defRPr sz="1300">
                <a:solidFill>
                  <a:srgbClr val="0F172A"/>
                </a:solidFill>
              </a:defRPr>
            </a:pPr>
            <a:r>
              <a:t>View Request Status, Track Progress</a:t>
            </a:r>
          </a:p>
          <a:p>
            <a:pPr>
              <a:defRPr b="1" sz="1400">
                <a:solidFill>
                  <a:srgbClr val="2563EB"/>
                </a:solidFill>
              </a:defRPr>
            </a:pPr>
            <a:r>
              <a:t>Backend &amp; API Integration:</a:t>
            </a:r>
          </a:p>
          <a:p>
            <a:pPr>
              <a:defRPr sz="1300">
                <a:solidFill>
                  <a:srgbClr val="0F172A"/>
                </a:solidFill>
              </a:defRPr>
            </a:pPr>
            <a:r>
              <a:t>POST /api/v1/service-orders/{id}/material-requests</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Material Request Tracking Screen</a:t>
            </a:r>
          </a:p>
          <a:p>
            <a:pPr>
              <a:defRPr sz="1200">
                <a:solidFill>
                  <a:srgbClr val="94A3B8"/>
                </a:solidFill>
              </a:defRPr>
            </a:pPr>
            <a:r>
              <a:t>Screen ID: plumber-14-material-tracking</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Material Request Tracking Screen</a:t>
            </a:r>
          </a:p>
          <a:p>
            <a:pPr>
              <a:defRPr b="1" sz="1400">
                <a:solidFill>
                  <a:srgbClr val="2563EB"/>
                </a:solidFill>
              </a:defRPr>
            </a:pPr>
            <a:r>
              <a:t>Purpose &amp; Functionality:</a:t>
            </a:r>
          </a:p>
          <a:p>
            <a:pPr>
              <a:defRPr sz="1300">
                <a:solidFill>
                  <a:srgbClr val="475569"/>
                </a:solidFill>
              </a:defRPr>
            </a:pPr>
            <a:r>
              <a:t>Real-time status tracker (REQUESTED -&gt; APPROVED -&gt; READY_FOR_PICKUP -&gt; COLLECTED)</a:t>
            </a:r>
          </a:p>
          <a:p>
            <a:pPr>
              <a:defRPr b="1" sz="1400">
                <a:solidFill>
                  <a:srgbClr val="2563EB"/>
                </a:solidFill>
              </a:defRPr>
            </a:pPr>
            <a:r>
              <a:t>Main Buttons &amp; UI Controls:</a:t>
            </a:r>
          </a:p>
          <a:p>
            <a:pPr>
              <a:defRPr sz="1300">
                <a:solidFill>
                  <a:srgbClr val="0F172A"/>
                </a:solidFill>
              </a:defRPr>
            </a:pPr>
            <a:r>
              <a:t>Refresh Status, Navigate to Store</a:t>
            </a:r>
          </a:p>
          <a:p>
            <a:pPr>
              <a:defRPr b="1" sz="1400">
                <a:solidFill>
                  <a:srgbClr val="2563EB"/>
                </a:solidFill>
              </a:defRPr>
            </a:pPr>
            <a:r>
              <a:t>Backend &amp; API Integration:</a:t>
            </a:r>
          </a:p>
          <a:p>
            <a:pPr>
              <a:defRPr sz="1300">
                <a:solidFill>
                  <a:srgbClr val="0F172A"/>
                </a:solidFill>
              </a:defRPr>
            </a:pPr>
            <a:r>
              <a:t>GET /api/v1/plumber/material-requests/{id}</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Store Ready for Pickup Status Screen</a:t>
            </a:r>
          </a:p>
          <a:p>
            <a:pPr>
              <a:defRPr sz="1200">
                <a:solidFill>
                  <a:srgbClr val="94A3B8"/>
                </a:solidFill>
              </a:defRPr>
            </a:pPr>
            <a:r>
              <a:t>Screen ID: plumber-15-ready-for-pickup</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Ready for Pickup Status Screen</a:t>
            </a:r>
          </a:p>
          <a:p>
            <a:pPr>
              <a:defRPr b="1" sz="1400">
                <a:solidFill>
                  <a:srgbClr val="2563EB"/>
                </a:solidFill>
              </a:defRPr>
            </a:pPr>
            <a:r>
              <a:t>Purpose &amp; Functionality:</a:t>
            </a:r>
          </a:p>
          <a:p>
            <a:pPr>
              <a:defRPr sz="1300">
                <a:solidFill>
                  <a:srgbClr val="475569"/>
                </a:solidFill>
              </a:defRPr>
            </a:pPr>
            <a:r>
              <a:t>Notifies plumber that store has packed parts and is ready for pickup</a:t>
            </a:r>
          </a:p>
          <a:p>
            <a:pPr>
              <a:defRPr b="1" sz="1400">
                <a:solidFill>
                  <a:srgbClr val="2563EB"/>
                </a:solidFill>
              </a:defRPr>
            </a:pPr>
            <a:r>
              <a:t>Main Buttons &amp; UI Controls:</a:t>
            </a:r>
          </a:p>
          <a:p>
            <a:pPr>
              <a:defRPr sz="1300">
                <a:solidFill>
                  <a:srgbClr val="0F172A"/>
                </a:solidFill>
              </a:defRPr>
            </a:pPr>
            <a:r>
              <a:t>Navigate to Store, Confirm Store Arrival</a:t>
            </a:r>
          </a:p>
          <a:p>
            <a:pPr>
              <a:defRPr b="1" sz="1400">
                <a:solidFill>
                  <a:srgbClr val="2563EB"/>
                </a:solidFill>
              </a:defRPr>
            </a:pPr>
            <a:r>
              <a:t>Backend &amp; API Integration:</a:t>
            </a:r>
          </a:p>
          <a:p>
            <a:pPr>
              <a:defRPr sz="1300">
                <a:solidFill>
                  <a:srgbClr val="0F172A"/>
                </a:solidFill>
              </a:defRPr>
            </a:pPr>
            <a:r>
              <a:t>GET /api/v1/plumber/material-requests/{id}</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Arrival at Fulfillment Store Screen</a:t>
            </a:r>
          </a:p>
          <a:p>
            <a:pPr>
              <a:defRPr sz="1200">
                <a:solidFill>
                  <a:srgbClr val="94A3B8"/>
                </a:solidFill>
              </a:defRPr>
            </a:pPr>
            <a:r>
              <a:t>Screen ID: plumber-16-arrival-at-store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Arrival at Fulfillment Store Screen</a:t>
            </a:r>
          </a:p>
          <a:p>
            <a:pPr>
              <a:defRPr b="1" sz="1400">
                <a:solidFill>
                  <a:srgbClr val="2563EB"/>
                </a:solidFill>
              </a:defRPr>
            </a:pPr>
            <a:r>
              <a:t>Purpose &amp; Functionality:</a:t>
            </a:r>
          </a:p>
          <a:p>
            <a:pPr>
              <a:defRPr sz="1300">
                <a:solidFill>
                  <a:srgbClr val="475569"/>
                </a:solidFill>
              </a:defRPr>
            </a:pPr>
            <a:r>
              <a:t>Registers plumber presence at store counter for package handoff</a:t>
            </a:r>
          </a:p>
          <a:p>
            <a:pPr>
              <a:defRPr b="1" sz="1400">
                <a:solidFill>
                  <a:srgbClr val="2563EB"/>
                </a:solidFill>
              </a:defRPr>
            </a:pPr>
            <a:r>
              <a:t>Main Buttons &amp; UI Controls:</a:t>
            </a:r>
          </a:p>
          <a:p>
            <a:pPr>
              <a:defRPr sz="1300">
                <a:solidFill>
                  <a:srgbClr val="0F172A"/>
                </a:solidFill>
              </a:defRPr>
            </a:pPr>
            <a:r>
              <a:t>Present QR/Code, Verify Items</a:t>
            </a:r>
          </a:p>
          <a:p>
            <a:pPr>
              <a:defRPr b="1" sz="1400">
                <a:solidFill>
                  <a:srgbClr val="2563EB"/>
                </a:solidFill>
              </a:defRPr>
            </a:pPr>
            <a:r>
              <a:t>Backend &amp; API Integration:</a:t>
            </a:r>
          </a:p>
          <a:p>
            <a:pPr>
              <a:defRPr sz="1300">
                <a:solidFill>
                  <a:srgbClr val="0F172A"/>
                </a:solidFill>
              </a:defRPr>
            </a:pPr>
            <a:r>
              <a:t>POST /api/v1/plumber/material-requests/{id}/arrive-store</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Material Handover &amp; Collection Screen</a:t>
            </a:r>
          </a:p>
          <a:p>
            <a:pPr>
              <a:defRPr sz="1200">
                <a:solidFill>
                  <a:srgbClr val="94A3B8"/>
                </a:solidFill>
              </a:defRPr>
            </a:pPr>
            <a:r>
              <a:t>Screen ID: plumber-17-material-collection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 Handover &amp; Collection Screen</a:t>
            </a:r>
          </a:p>
          <a:p>
            <a:pPr>
              <a:defRPr b="1" sz="1400">
                <a:solidFill>
                  <a:srgbClr val="2563EB"/>
                </a:solidFill>
              </a:defRPr>
            </a:pPr>
            <a:r>
              <a:t>Purpose &amp; Functionality:</a:t>
            </a:r>
          </a:p>
          <a:p>
            <a:pPr>
              <a:defRPr sz="1300">
                <a:solidFill>
                  <a:srgbClr val="475569"/>
                </a:solidFill>
              </a:defRPr>
            </a:pPr>
            <a:r>
              <a:t>Confirms physical receipt of materials from store manager</a:t>
            </a:r>
          </a:p>
          <a:p>
            <a:pPr>
              <a:defRPr b="1" sz="1400">
                <a:solidFill>
                  <a:srgbClr val="2563EB"/>
                </a:solidFill>
              </a:defRPr>
            </a:pPr>
            <a:r>
              <a:t>Main Buttons &amp; UI Controls:</a:t>
            </a:r>
          </a:p>
          <a:p>
            <a:pPr>
              <a:defRPr sz="1300">
                <a:solidFill>
                  <a:srgbClr val="0F172A"/>
                </a:solidFill>
              </a:defRPr>
            </a:pPr>
            <a:r>
              <a:t>Confirm Package Handoff, Return to Job Site</a:t>
            </a:r>
          </a:p>
          <a:p>
            <a:pPr>
              <a:defRPr b="1" sz="1400">
                <a:solidFill>
                  <a:srgbClr val="2563EB"/>
                </a:solidFill>
              </a:defRPr>
            </a:pPr>
            <a:r>
              <a:t>Backend &amp; API Integration:</a:t>
            </a:r>
          </a:p>
          <a:p>
            <a:pPr>
              <a:defRPr sz="1300">
                <a:solidFill>
                  <a:srgbClr val="0F172A"/>
                </a:solidFill>
              </a:defRPr>
            </a:pPr>
            <a:r>
              <a:t>POST /api/v1/plumber/material-requests/{id}/collect</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Resume On-Site Work Screen</a:t>
            </a:r>
          </a:p>
          <a:p>
            <a:pPr>
              <a:defRPr sz="1200">
                <a:solidFill>
                  <a:srgbClr val="94A3B8"/>
                </a:solidFill>
              </a:defRPr>
            </a:pPr>
            <a:r>
              <a:t>Screen ID: plumber-18-resume-work</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Resume On-Site Work Screen</a:t>
            </a:r>
          </a:p>
          <a:p>
            <a:pPr>
              <a:defRPr b="1" sz="1400">
                <a:solidFill>
                  <a:srgbClr val="2563EB"/>
                </a:solidFill>
              </a:defRPr>
            </a:pPr>
            <a:r>
              <a:t>Purpose &amp; Functionality:</a:t>
            </a:r>
          </a:p>
          <a:p>
            <a:pPr>
              <a:defRPr sz="1300">
                <a:solidFill>
                  <a:srgbClr val="475569"/>
                </a:solidFill>
              </a:defRPr>
            </a:pPr>
            <a:r>
              <a:t>Resumes plumbing service execution after material collection</a:t>
            </a:r>
          </a:p>
          <a:p>
            <a:pPr>
              <a:defRPr b="1" sz="1400">
                <a:solidFill>
                  <a:srgbClr val="2563EB"/>
                </a:solidFill>
              </a:defRPr>
            </a:pPr>
            <a:r>
              <a:t>Main Buttons &amp; UI Controls:</a:t>
            </a:r>
          </a:p>
          <a:p>
            <a:pPr>
              <a:defRPr sz="1300">
                <a:solidFill>
                  <a:srgbClr val="0F172A"/>
                </a:solidFill>
              </a:defRPr>
            </a:pPr>
            <a:r>
              <a:t>Finish Repair, Test Installation</a:t>
            </a:r>
          </a:p>
          <a:p>
            <a:pPr>
              <a:defRPr b="1" sz="1400">
                <a:solidFill>
                  <a:srgbClr val="2563EB"/>
                </a:solidFill>
              </a:defRPr>
            </a:pPr>
            <a:r>
              <a:t>Backend &amp; API Integration:</a:t>
            </a:r>
          </a:p>
          <a:p>
            <a:pPr>
              <a:defRPr sz="1300">
                <a:solidFill>
                  <a:srgbClr val="0F172A"/>
                </a:solidFill>
              </a:defRPr>
            </a:pPr>
            <a:r>
              <a:t>POST /api/v1/orders/{id}/resume</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Job Completion Summary Screen</a:t>
            </a:r>
          </a:p>
          <a:p>
            <a:pPr>
              <a:defRPr sz="1200">
                <a:solidFill>
                  <a:srgbClr val="94A3B8"/>
                </a:solidFill>
              </a:defRPr>
            </a:pPr>
            <a:r>
              <a:t>Screen ID: plumber-19-complete-job</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Job Completion Summary Screen</a:t>
            </a:r>
          </a:p>
          <a:p>
            <a:pPr>
              <a:defRPr b="1" sz="1400">
                <a:solidFill>
                  <a:srgbClr val="2563EB"/>
                </a:solidFill>
              </a:defRPr>
            </a:pPr>
            <a:r>
              <a:t>Purpose &amp; Functionality:</a:t>
            </a:r>
          </a:p>
          <a:p>
            <a:pPr>
              <a:defRPr sz="1300">
                <a:solidFill>
                  <a:srgbClr val="475569"/>
                </a:solidFill>
              </a:defRPr>
            </a:pPr>
            <a:r>
              <a:t>Finalizes job, displays total bill, service labor charge, and customer rating prompt</a:t>
            </a:r>
          </a:p>
          <a:p>
            <a:pPr>
              <a:defRPr b="1" sz="1400">
                <a:solidFill>
                  <a:srgbClr val="2563EB"/>
                </a:solidFill>
              </a:defRPr>
            </a:pPr>
            <a:r>
              <a:t>Main Buttons &amp; UI Controls:</a:t>
            </a:r>
          </a:p>
          <a:p>
            <a:pPr>
              <a:defRPr sz="1300">
                <a:solidFill>
                  <a:srgbClr val="0F172A"/>
                </a:solidFill>
              </a:defRPr>
            </a:pPr>
            <a:r>
              <a:t>Submit Final Invoice, Back to Dashboard</a:t>
            </a:r>
          </a:p>
          <a:p>
            <a:pPr>
              <a:defRPr b="1" sz="1400">
                <a:solidFill>
                  <a:srgbClr val="2563EB"/>
                </a:solidFill>
              </a:defRPr>
            </a:pPr>
            <a:r>
              <a:t>Backend &amp; API Integration:</a:t>
            </a:r>
          </a:p>
          <a:p>
            <a:pPr>
              <a:defRPr sz="1300">
                <a:solidFill>
                  <a:srgbClr val="0F172A"/>
                </a:solidFill>
              </a:defRPr>
            </a:pPr>
            <a:r>
              <a:t>POST /api/v1/orders/{id}/complete</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Earnings &amp; Payouts Screen</a:t>
            </a:r>
          </a:p>
          <a:p>
            <a:pPr>
              <a:defRPr sz="1200">
                <a:solidFill>
                  <a:srgbClr val="94A3B8"/>
                </a:solidFill>
              </a:defRPr>
            </a:pPr>
            <a:r>
              <a:t>Screen ID: plumber-20-earnings-wallet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Earnings &amp; Payouts Screen</a:t>
            </a:r>
          </a:p>
          <a:p>
            <a:pPr>
              <a:defRPr b="1" sz="1400">
                <a:solidFill>
                  <a:srgbClr val="2563EB"/>
                </a:solidFill>
              </a:defRPr>
            </a:pPr>
            <a:r>
              <a:t>Purpose &amp; Functionality:</a:t>
            </a:r>
          </a:p>
          <a:p>
            <a:pPr>
              <a:defRPr sz="1300">
                <a:solidFill>
                  <a:srgbClr val="475569"/>
                </a:solidFill>
              </a:defRPr>
            </a:pPr>
            <a:r>
              <a:t>Financial dashboard showing today earnings, weekly commissions, and payout history</a:t>
            </a:r>
          </a:p>
          <a:p>
            <a:pPr>
              <a:defRPr b="1" sz="1400">
                <a:solidFill>
                  <a:srgbClr val="2563EB"/>
                </a:solidFill>
              </a:defRPr>
            </a:pPr>
            <a:r>
              <a:t>Main Buttons &amp; UI Controls:</a:t>
            </a:r>
          </a:p>
          <a:p>
            <a:pPr>
              <a:defRPr sz="1300">
                <a:solidFill>
                  <a:srgbClr val="0F172A"/>
                </a:solidFill>
              </a:defRPr>
            </a:pPr>
            <a:r>
              <a:t>View Detailed Breakdown, Request Payout</a:t>
            </a:r>
          </a:p>
          <a:p>
            <a:pPr>
              <a:defRPr b="1" sz="1400">
                <a:solidFill>
                  <a:srgbClr val="2563EB"/>
                </a:solidFill>
              </a:defRPr>
            </a:pPr>
            <a:r>
              <a:t>Backend &amp; API Integration:</a:t>
            </a:r>
          </a:p>
          <a:p>
            <a:pPr>
              <a:defRPr sz="1300">
                <a:solidFill>
                  <a:srgbClr val="0F172A"/>
                </a:solidFill>
              </a:defRPr>
            </a:pPr>
            <a:r>
              <a:t>GET /api/v1/plumber/earnings, GET /api/v1/wallet</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Profile &amp; Credentials Screen</a:t>
            </a:r>
          </a:p>
          <a:p>
            <a:pPr>
              <a:defRPr sz="1200">
                <a:solidFill>
                  <a:srgbClr val="94A3B8"/>
                </a:solidFill>
              </a:defRPr>
            </a:pPr>
            <a:r>
              <a:t>Screen ID: plumber-21-profile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Profile &amp; Credentials Screen</a:t>
            </a:r>
          </a:p>
          <a:p>
            <a:pPr>
              <a:defRPr b="1" sz="1400">
                <a:solidFill>
                  <a:srgbClr val="2563EB"/>
                </a:solidFill>
              </a:defRPr>
            </a:pPr>
            <a:r>
              <a:t>Purpose &amp; Functionality:</a:t>
            </a:r>
          </a:p>
          <a:p>
            <a:pPr>
              <a:defRPr sz="1300">
                <a:solidFill>
                  <a:srgbClr val="475569"/>
                </a:solidFill>
              </a:defRPr>
            </a:pPr>
            <a:r>
              <a:t>Plumber partner identity details, mobile number, experience level, and service areas</a:t>
            </a:r>
          </a:p>
          <a:p>
            <a:pPr>
              <a:defRPr b="1" sz="1400">
                <a:solidFill>
                  <a:srgbClr val="2563EB"/>
                </a:solidFill>
              </a:defRPr>
            </a:pPr>
            <a:r>
              <a:t>Main Buttons &amp; UI Controls:</a:t>
            </a:r>
          </a:p>
          <a:p>
            <a:pPr>
              <a:defRPr sz="1300">
                <a:solidFill>
                  <a:srgbClr val="0F172A"/>
                </a:solidFill>
              </a:defRPr>
            </a:pPr>
            <a:r>
              <a:t>Edit Information, View KYC Details</a:t>
            </a:r>
          </a:p>
          <a:p>
            <a:pPr>
              <a:defRPr b="1" sz="1400">
                <a:solidFill>
                  <a:srgbClr val="2563EB"/>
                </a:solidFill>
              </a:defRPr>
            </a:pPr>
            <a:r>
              <a:t>Backend &amp; API Integration:</a:t>
            </a:r>
          </a:p>
          <a:p>
            <a:pPr>
              <a:defRPr sz="1300">
                <a:solidFill>
                  <a:srgbClr val="0F172A"/>
                </a:solidFill>
              </a:defRPr>
            </a:pPr>
            <a:r>
              <a:t>GET /api/v1/auth/me, GET /api/v1/plumber/profile</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Settings Screen</a:t>
            </a:r>
          </a:p>
          <a:p>
            <a:pPr>
              <a:defRPr sz="1200">
                <a:solidFill>
                  <a:srgbClr val="94A3B8"/>
                </a:solidFill>
              </a:defRPr>
            </a:pPr>
            <a:r>
              <a:t>Screen ID: plumber-22-settings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Settings Screen</a:t>
            </a:r>
          </a:p>
          <a:p>
            <a:pPr>
              <a:defRPr b="1" sz="1400">
                <a:solidFill>
                  <a:srgbClr val="2563EB"/>
                </a:solidFill>
              </a:defRPr>
            </a:pPr>
            <a:r>
              <a:t>Purpose &amp; Functionality:</a:t>
            </a:r>
          </a:p>
          <a:p>
            <a:pPr>
              <a:defRPr sz="1300">
                <a:solidFill>
                  <a:srgbClr val="475569"/>
                </a:solidFill>
              </a:defRPr>
            </a:pPr>
            <a:r>
              <a:t>Partner app preferences, sound alerts, notification settings, and terms</a:t>
            </a:r>
          </a:p>
          <a:p>
            <a:pPr>
              <a:defRPr b="1" sz="1400">
                <a:solidFill>
                  <a:srgbClr val="2563EB"/>
                </a:solidFill>
              </a:defRPr>
            </a:pPr>
            <a:r>
              <a:t>Main Buttons &amp; UI Controls:</a:t>
            </a:r>
          </a:p>
          <a:p>
            <a:pPr>
              <a:defRPr sz="1300">
                <a:solidFill>
                  <a:srgbClr val="0F172A"/>
                </a:solidFill>
              </a:defRPr>
            </a:pPr>
            <a:r>
              <a:t>Toggle Alerts, View Partner Agreement</a:t>
            </a:r>
          </a:p>
          <a:p>
            <a:pPr>
              <a:defRPr b="1" sz="1400">
                <a:solidFill>
                  <a:srgbClr val="2563EB"/>
                </a:solidFill>
              </a:defRPr>
            </a:pPr>
            <a:r>
              <a:t>Backend &amp; API Integration:</a:t>
            </a:r>
          </a:p>
          <a:p>
            <a:pPr>
              <a:defRPr sz="1300">
                <a:solidFill>
                  <a:srgbClr val="0F172A"/>
                </a:solidFill>
              </a:defRPr>
            </a:pPr>
            <a:r>
              <a:t>GET /api/v1/users/me</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Plumber Session Termination Screen</a:t>
            </a:r>
          </a:p>
          <a:p>
            <a:pPr>
              <a:defRPr sz="1200">
                <a:solidFill>
                  <a:srgbClr val="94A3B8"/>
                </a:solidFill>
              </a:defRPr>
            </a:pPr>
            <a:r>
              <a:t>Screen ID: plumber-23-logout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Session Termination Screen</a:t>
            </a:r>
          </a:p>
          <a:p>
            <a:pPr>
              <a:defRPr b="1" sz="1400">
                <a:solidFill>
                  <a:srgbClr val="2563EB"/>
                </a:solidFill>
              </a:defRPr>
            </a:pPr>
            <a:r>
              <a:t>Purpose &amp; Functionality:</a:t>
            </a:r>
          </a:p>
          <a:p>
            <a:pPr>
              <a:defRPr sz="1300">
                <a:solidFill>
                  <a:srgbClr val="475569"/>
                </a:solidFill>
              </a:defRPr>
            </a:pPr>
            <a:r>
              <a:t>Logout prompt invalidating session token and returning to login page</a:t>
            </a:r>
          </a:p>
          <a:p>
            <a:pPr>
              <a:defRPr b="1" sz="1400">
                <a:solidFill>
                  <a:srgbClr val="2563EB"/>
                </a:solidFill>
              </a:defRPr>
            </a:pPr>
            <a:r>
              <a:t>Main Buttons &amp; UI Controls:</a:t>
            </a:r>
          </a:p>
          <a:p>
            <a:pPr>
              <a:defRPr sz="1300">
                <a:solidFill>
                  <a:srgbClr val="0F172A"/>
                </a:solidFill>
              </a:defRPr>
            </a:pPr>
            <a:r>
              <a:t>Confirm Logout, Cancel</a:t>
            </a:r>
          </a:p>
          <a:p>
            <a:pPr>
              <a:defRPr b="1" sz="1400">
                <a:solidFill>
                  <a:srgbClr val="2563EB"/>
                </a:solidFill>
              </a:defRPr>
            </a:pPr>
            <a:r>
              <a:t>Backend &amp; API Integration:</a:t>
            </a:r>
          </a:p>
          <a:p>
            <a:pPr>
              <a:defRPr sz="1300">
                <a:solidFill>
                  <a:srgbClr val="0F172A"/>
                </a:solidFill>
              </a:defRPr>
            </a:pPr>
            <a:r>
              <a:t>POST /api/v1/auth/logout</a:t>
            </a:r>
          </a:p>
          <a:p>
            <a:pPr>
              <a:defRPr b="1" sz="1500">
                <a:solidFill>
                  <a:srgbClr val="16A34A"/>
                </a:solidFill>
              </a:defRPr>
            </a:pPr>
            <a:r>
              <a:t>Functional Verification Status: PASS</a:t>
            </a:r>
          </a:p>
        </p:txBody>
      </p:sp>
      <p:pic>
        <p:nvPicPr>
          <p:cNvPr id="6" name="Picture 5" descr="plumber-03-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Plumber App Navigation &amp; API Matrix</a:t>
            </a:r>
          </a:p>
          <a:p>
            <a:pPr>
              <a:defRPr sz="1200">
                <a:solidFill>
                  <a:srgbClr val="94A3B8"/>
                </a:solidFill>
              </a:defRPr>
            </a:pPr>
            <a:r>
              <a:t>Screen, Action, and API Mapping Summary (23 Screens)</a:t>
            </a:r>
          </a:p>
        </p:txBody>
      </p:sp>
      <p:graphicFrame>
        <p:nvGraphicFramePr>
          <p:cNvPr id="4" name="Table 3"/>
          <p:cNvGraphicFramePr>
            <a:graphicFrameLocks noGrp="1"/>
          </p:cNvGraphicFramePr>
          <p:nvPr/>
        </p:nvGraphicFramePr>
        <p:xfrm>
          <a:off x="548640" y="1280160"/>
          <a:ext cx="11094415" cy="5120640"/>
        </p:xfrm>
        <a:graphic>
          <a:graphicData uri="http://schemas.openxmlformats.org/drawingml/2006/table">
            <a:tbl>
              <a:tblPr firstRow="1" bandRow="1">
                <a:tableStyleId>{5C22544A-7EE6-4342-B048-85BDC9FD1C3A}</a:tableStyleId>
              </a:tblPr>
              <a:tblGrid>
                <a:gridCol w="2011680"/>
                <a:gridCol w="3200400"/>
                <a:gridCol w="4572000"/>
                <a:gridCol w="1310335"/>
              </a:tblGrid>
              <a:tr h="365760">
                <a:tc>
                  <a:txBody>
                    <a:bodyPr/>
                    <a:lstStyle/>
                    <a:p>
                      <a:pPr>
                        <a:defRPr b="1" sz="1200">
                          <a:solidFill>
                            <a:srgbClr val="FFFFFF"/>
                          </a:solidFill>
                        </a:defRPr>
                      </a:pPr>
                      <a:r>
                        <a:t>Screen Name</a:t>
                      </a:r>
                    </a:p>
                  </a:txBody>
                  <a:tcPr>
                    <a:solidFill>
                      <a:srgbClr val="1E293B"/>
                    </a:solidFill>
                  </a:tcPr>
                </a:tc>
                <a:tc>
                  <a:txBody>
                    <a:bodyPr/>
                    <a:lstStyle/>
                    <a:p>
                      <a:pPr>
                        <a:defRPr b="1" sz="1200">
                          <a:solidFill>
                            <a:srgbClr val="FFFFFF"/>
                          </a:solidFill>
                        </a:defRPr>
                      </a:pPr>
                      <a:r>
                        <a:t>Main Actions</a:t>
                      </a:r>
                    </a:p>
                  </a:txBody>
                  <a:tcPr>
                    <a:solidFill>
                      <a:srgbClr val="1E293B"/>
                    </a:solidFill>
                  </a:tcPr>
                </a:tc>
                <a:tc>
                  <a:txBody>
                    <a:bodyPr/>
                    <a:lstStyle/>
                    <a:p>
                      <a:pPr>
                        <a:defRPr b="1" sz="1200">
                          <a:solidFill>
                            <a:srgbClr val="FFFFFF"/>
                          </a:solidFill>
                        </a:defRPr>
                      </a:pPr>
                      <a:r>
                        <a:t>Backend APIs</a:t>
                      </a:r>
                    </a:p>
                  </a:txBody>
                  <a:tcPr>
                    <a:solidFill>
                      <a:srgbClr val="1E293B"/>
                    </a:solidFill>
                  </a:tcPr>
                </a:tc>
                <a:tc>
                  <a:txBody>
                    <a:bodyPr/>
                    <a:lstStyle/>
                    <a:p>
                      <a:pPr>
                        <a:defRPr b="1" sz="1200">
                          <a:solidFill>
                            <a:srgbClr val="FFFFFF"/>
                          </a:solidFill>
                        </a:defRPr>
                      </a:pPr>
                      <a:r>
                        <a:t>Status</a:t>
                      </a:r>
                    </a:p>
                  </a:txBody>
                  <a:tcPr>
                    <a:solidFill>
                      <a:srgbClr val="1E293B"/>
                    </a:solidFill>
                  </a:tcPr>
                </a:tc>
              </a:tr>
              <a:tr h="365760">
                <a:tc>
                  <a:txBody>
                    <a:bodyPr/>
                    <a:lstStyle/>
                    <a:p>
                      <a:pPr>
                        <a:defRPr sz="1000">
                          <a:solidFill>
                            <a:srgbClr val="0F172A"/>
                          </a:solidFill>
                        </a:defRPr>
                      </a:pPr>
                      <a:r>
                        <a:t>Plumber Login Screen</a:t>
                      </a:r>
                    </a:p>
                  </a:txBody>
                  <a:tcPr/>
                </a:tc>
                <a:tc>
                  <a:txBody>
                    <a:bodyPr/>
                    <a:lstStyle/>
                    <a:p>
                      <a:pPr>
                        <a:defRPr sz="1000">
                          <a:solidFill>
                            <a:srgbClr val="0F172A"/>
                          </a:solidFill>
                        </a:defRPr>
                      </a:pPr>
                      <a:r>
                        <a:t>Email Input, Password Input, Sign In</a:t>
                      </a:r>
                    </a:p>
                  </a:txBody>
                  <a:tcPr/>
                </a:tc>
                <a:tc>
                  <a:txBody>
                    <a:bodyPr/>
                    <a:lstStyle/>
                    <a:p>
                      <a:pPr>
                        <a:defRPr sz="1000">
                          <a:solidFill>
                            <a:srgbClr val="0F172A"/>
                          </a:solidFill>
                        </a:defRPr>
                      </a:pPr>
                      <a:r>
                        <a:t>POST /api/v1/auth/login</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Plumber Self-Registration Screen</a:t>
                      </a:r>
                    </a:p>
                  </a:txBody>
                  <a:tcPr/>
                </a:tc>
                <a:tc>
                  <a:txBody>
                    <a:bodyPr/>
                    <a:lstStyle/>
                    <a:p>
                      <a:pPr>
                        <a:defRPr sz="1000">
                          <a:solidFill>
                            <a:srgbClr val="0F172A"/>
                          </a:solidFill>
                        </a:defRPr>
                      </a:pPr>
                      <a:r>
                        <a:t>Full Name, Phone, Email</a:t>
                      </a:r>
                    </a:p>
                  </a:txBody>
                  <a:tcPr/>
                </a:tc>
                <a:tc>
                  <a:txBody>
                    <a:bodyPr/>
                    <a:lstStyle/>
                    <a:p>
                      <a:pPr>
                        <a:defRPr sz="1000">
                          <a:solidFill>
                            <a:srgbClr val="0F172A"/>
                          </a:solidFill>
                        </a:defRPr>
                      </a:pPr>
                      <a:r>
                        <a:t>POST /api/v1/auth/register/plumber</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Plumber Operational Dashboard</a:t>
                      </a:r>
                    </a:p>
                  </a:txBody>
                  <a:tcPr/>
                </a:tc>
                <a:tc>
                  <a:txBody>
                    <a:bodyPr/>
                    <a:lstStyle/>
                    <a:p>
                      <a:pPr>
                        <a:defRPr sz="1000">
                          <a:solidFill>
                            <a:srgbClr val="0F172A"/>
                          </a:solidFill>
                        </a:defRPr>
                      </a:pPr>
                      <a:r>
                        <a:t>Online/Offline Switch, View Upcoming Job, View Earnings</a:t>
                      </a:r>
                    </a:p>
                  </a:txBody>
                  <a:tcPr/>
                </a:tc>
                <a:tc>
                  <a:txBody>
                    <a:bodyPr/>
                    <a:lstStyle/>
                    <a:p>
                      <a:pPr>
                        <a:defRPr sz="1000">
                          <a:solidFill>
                            <a:srgbClr val="0F172A"/>
                          </a:solidFill>
                        </a:defRPr>
                      </a:pPr>
                      <a:r>
                        <a:t>GET /api/v1/auth/me, GET /api/v1/plumber/dashboard</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Availability Status Toggle Screen</a:t>
                      </a:r>
                    </a:p>
                  </a:txBody>
                  <a:tcPr/>
                </a:tc>
                <a:tc>
                  <a:txBody>
                    <a:bodyPr/>
                    <a:lstStyle/>
                    <a:p>
                      <a:pPr>
                        <a:defRPr sz="1000">
                          <a:solidFill>
                            <a:srgbClr val="0F172A"/>
                          </a:solidFill>
                        </a:defRPr>
                      </a:pPr>
                      <a:r>
                        <a:t>Toggle Online/Offline Status</a:t>
                      </a:r>
                    </a:p>
                  </a:txBody>
                  <a:tcPr/>
                </a:tc>
                <a:tc>
                  <a:txBody>
                    <a:bodyPr/>
                    <a:lstStyle/>
                    <a:p>
                      <a:pPr>
                        <a:defRPr sz="1000">
                          <a:solidFill>
                            <a:srgbClr val="0F172A"/>
                          </a:solidFill>
                        </a:defRPr>
                      </a:pPr>
                      <a:r>
                        <a:t>POST /api/v1/users/me/availability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Plumber KYC &amp; Verification Screen</a:t>
                      </a:r>
                    </a:p>
                  </a:txBody>
                  <a:tcPr/>
                </a:tc>
                <a:tc>
                  <a:txBody>
                    <a:bodyPr/>
                    <a:lstStyle/>
                    <a:p>
                      <a:pPr>
                        <a:defRPr sz="1000">
                          <a:solidFill>
                            <a:srgbClr val="0F172A"/>
                          </a:solidFill>
                        </a:defRPr>
                      </a:pPr>
                      <a:r>
                        <a:t>Submit KYC Documents, View Approval Status</a:t>
                      </a:r>
                    </a:p>
                  </a:txBody>
                  <a:tcPr/>
                </a:tc>
                <a:tc>
                  <a:txBody>
                    <a:bodyPr/>
                    <a:lstStyle/>
                    <a:p>
                      <a:pPr>
                        <a:defRPr sz="1000">
                          <a:solidFill>
                            <a:srgbClr val="0F172A"/>
                          </a:solidFill>
                        </a:defRPr>
                      </a:pPr>
                      <a:r>
                        <a:t>GET /api/v1/plumber/kyc, POST /api/v1/plumber/kyc</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Assigned Jobs List Screen</a:t>
                      </a:r>
                    </a:p>
                  </a:txBody>
                  <a:tcPr/>
                </a:tc>
                <a:tc>
                  <a:txBody>
                    <a:bodyPr/>
                    <a:lstStyle/>
                    <a:p>
                      <a:pPr>
                        <a:defRPr sz="1000">
                          <a:solidFill>
                            <a:srgbClr val="0F172A"/>
                          </a:solidFill>
                        </a:defRPr>
                      </a:pPr>
                      <a:r>
                        <a:t>Filter Status (Pending/Active/Completed), Select Job Card</a:t>
                      </a:r>
                    </a:p>
                  </a:txBody>
                  <a:tcPr/>
                </a:tc>
                <a:tc>
                  <a:txBody>
                    <a:bodyPr/>
                    <a:lstStyle/>
                    <a:p>
                      <a:pPr>
                        <a:defRPr sz="1000">
                          <a:solidFill>
                            <a:srgbClr val="0F172A"/>
                          </a:solidFill>
                        </a:defRPr>
                      </a:pPr>
                      <a:r>
                        <a:t>GET /api/v1/plumber/dashboard</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Plumber Job Detail Screen</a:t>
                      </a:r>
                    </a:p>
                  </a:txBody>
                  <a:tcPr/>
                </a:tc>
                <a:tc>
                  <a:txBody>
                    <a:bodyPr/>
                    <a:lstStyle/>
                    <a:p>
                      <a:pPr>
                        <a:defRPr sz="1000">
                          <a:solidFill>
                            <a:srgbClr val="0F172A"/>
                          </a:solidFill>
                        </a:defRPr>
                      </a:pPr>
                      <a:r>
                        <a:t>Accept Job, Navigate to Site, Request Materials</a:t>
                      </a:r>
                    </a:p>
                  </a:txBody>
                  <a:tcPr/>
                </a:tc>
                <a:tc>
                  <a:txBody>
                    <a:bodyPr/>
                    <a:lstStyle/>
                    <a:p>
                      <a:pPr>
                        <a:defRPr sz="1000">
                          <a:solidFill>
                            <a:srgbClr val="0F172A"/>
                          </a:solidFill>
                        </a:defRPr>
                      </a:pPr>
                      <a:r>
                        <a:t>GET /api/v1/orders/{id}</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Job Acceptance Confirmation Screen</a:t>
                      </a:r>
                    </a:p>
                  </a:txBody>
                  <a:tcPr/>
                </a:tc>
                <a:tc>
                  <a:txBody>
                    <a:bodyPr/>
                    <a:lstStyle/>
                    <a:p>
                      <a:pPr>
                        <a:defRPr sz="1000">
                          <a:solidFill>
                            <a:srgbClr val="0F172A"/>
                          </a:solidFill>
                        </a:defRPr>
                      </a:pPr>
                      <a:r>
                        <a:t>Confirm Acceptance, Decline Job</a:t>
                      </a:r>
                    </a:p>
                  </a:txBody>
                  <a:tcPr/>
                </a:tc>
                <a:tc>
                  <a:txBody>
                    <a:bodyPr/>
                    <a:lstStyle/>
                    <a:p>
                      <a:pPr>
                        <a:defRPr sz="1000">
                          <a:solidFill>
                            <a:srgbClr val="0F172A"/>
                          </a:solidFill>
                        </a:defRPr>
                      </a:pPr>
                      <a:r>
                        <a:t>POST /api/v1/orders/{id}/accept</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Arrive at Customer Site Screen</a:t>
                      </a:r>
                    </a:p>
                  </a:txBody>
                  <a:tcPr/>
                </a:tc>
                <a:tc>
                  <a:txBody>
                    <a:bodyPr/>
                    <a:lstStyle/>
                    <a:p>
                      <a:pPr>
                        <a:defRPr sz="1000">
                          <a:solidFill>
                            <a:srgbClr val="0F172A"/>
                          </a:solidFill>
                        </a:defRPr>
                      </a:pPr>
                      <a:r>
                        <a:t>Confirm Site Arrival, Contact Customer</a:t>
                      </a:r>
                    </a:p>
                  </a:txBody>
                  <a:tcPr/>
                </a:tc>
                <a:tc>
                  <a:txBody>
                    <a:bodyPr/>
                    <a:lstStyle/>
                    <a:p>
                      <a:pPr>
                        <a:defRPr sz="1000">
                          <a:solidFill>
                            <a:srgbClr val="0F172A"/>
                          </a:solidFill>
                        </a:defRPr>
                      </a:pPr>
                      <a:r>
                        <a:t>POST /api/v1/orders/{id}/arrive</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Work Started &amp; Inspection Screen</a:t>
                      </a:r>
                    </a:p>
                  </a:txBody>
                  <a:tcPr/>
                </a:tc>
                <a:tc>
                  <a:txBody>
                    <a:bodyPr/>
                    <a:lstStyle/>
                    <a:p>
                      <a:pPr>
                        <a:defRPr sz="1000">
                          <a:solidFill>
                            <a:srgbClr val="0F172A"/>
                          </a:solidFill>
                        </a:defRPr>
                      </a:pPr>
                      <a:r>
                        <a:t>Request Materials Needed, Complete Job Without Parts</a:t>
                      </a:r>
                    </a:p>
                  </a:txBody>
                  <a:tcPr/>
                </a:tc>
                <a:tc>
                  <a:txBody>
                    <a:bodyPr/>
                    <a:lstStyle/>
                    <a:p>
                      <a:pPr>
                        <a:defRPr sz="1000">
                          <a:solidFill>
                            <a:srgbClr val="0F172A"/>
                          </a:solidFill>
                        </a:defRPr>
                      </a:pPr>
                      <a:r>
                        <a:t>POST /api/v1/orders/{id}/start</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Materials Selection Screen</a:t>
                      </a:r>
                    </a:p>
                  </a:txBody>
                  <a:tcPr/>
                </a:tc>
                <a:tc>
                  <a:txBody>
                    <a:bodyPr/>
                    <a:lstStyle/>
                    <a:p>
                      <a:pPr>
                        <a:defRPr sz="1000">
                          <a:solidFill>
                            <a:srgbClr val="0F172A"/>
                          </a:solidFill>
                        </a:defRPr>
                      </a:pPr>
                      <a:r>
                        <a:t>Add Product SKU, Set Quantity, Select Store</a:t>
                      </a:r>
                    </a:p>
                  </a:txBody>
                  <a:tcPr/>
                </a:tc>
                <a:tc>
                  <a:txBody>
                    <a:bodyPr/>
                    <a:lstStyle/>
                    <a:p>
                      <a:pPr>
                        <a:defRPr sz="1000">
                          <a:solidFill>
                            <a:srgbClr val="0F172A"/>
                          </a:solidFill>
                        </a:defRPr>
                      </a:pPr>
                      <a:r>
                        <a:t>GET /api/v1/catalog/products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Fulfillment Store Selection Screen</a:t>
                      </a:r>
                    </a:p>
                  </a:txBody>
                  <a:tcPr/>
                </a:tc>
                <a:tc>
                  <a:txBody>
                    <a:bodyPr/>
                    <a:lstStyle/>
                    <a:p>
                      <a:pPr>
                        <a:defRPr sz="1000">
                          <a:solidFill>
                            <a:srgbClr val="0F172A"/>
                          </a:solidFill>
                        </a:defRPr>
                      </a:pPr>
                      <a:r>
                        <a:t>Select Store, Compare Distance</a:t>
                      </a:r>
                    </a:p>
                  </a:txBody>
                  <a:tcPr/>
                </a:tc>
                <a:tc>
                  <a:txBody>
                    <a:bodyPr/>
                    <a:lstStyle/>
                    <a:p>
                      <a:pPr>
                        <a:defRPr sz="1000">
                          <a:solidFill>
                            <a:srgbClr val="0F172A"/>
                          </a:solidFill>
                        </a:defRPr>
                      </a:pPr>
                      <a:r>
                        <a:t>GET /api/v1/stores/nearby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Material Request Created Screen</a:t>
                      </a:r>
                    </a:p>
                  </a:txBody>
                  <a:tcPr/>
                </a:tc>
                <a:tc>
                  <a:txBody>
                    <a:bodyPr/>
                    <a:lstStyle/>
                    <a:p>
                      <a:pPr>
                        <a:defRPr sz="1000">
                          <a:solidFill>
                            <a:srgbClr val="0F172A"/>
                          </a:solidFill>
                        </a:defRPr>
                      </a:pPr>
                      <a:r>
                        <a:t>View Request Status, Track Progress</a:t>
                      </a:r>
                    </a:p>
                  </a:txBody>
                  <a:tcPr/>
                </a:tc>
                <a:tc>
                  <a:txBody>
                    <a:bodyPr/>
                    <a:lstStyle/>
                    <a:p>
                      <a:pPr>
                        <a:defRPr sz="1000">
                          <a:solidFill>
                            <a:srgbClr val="0F172A"/>
                          </a:solidFill>
                        </a:defRPr>
                      </a:pPr>
                      <a:r>
                        <a:t>POST /api/v1/service-orders/{id}/material-requests</a:t>
                      </a:r>
                    </a:p>
                  </a:txBody>
                  <a:tcPr/>
                </a:tc>
                <a:tc>
                  <a:txBody>
                    <a:bodyPr/>
                    <a:lstStyle/>
                    <a:p>
                      <a:pPr>
                        <a:defRPr sz="1000" b="1">
                          <a:solidFill>
                            <a:srgbClr val="16A34A"/>
                          </a:solidFill>
                        </a:defRPr>
                      </a:pPr>
                      <a:r>
                        <a:t>PASS</a:t>
                      </a:r>
                    </a:p>
                  </a:txBody>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2743200"/>
          </a:xfrm>
          <a:prstGeom prst="rect">
            <a:avLst/>
          </a:prstGeom>
          <a:noFill/>
        </p:spPr>
        <p:txBody>
          <a:bodyPr wrap="none">
            <a:spAutoFit/>
          </a:bodyPr>
          <a:lstStyle/>
          <a:p>
            <a:pPr>
              <a:defRPr sz="3800" b="1">
                <a:solidFill>
                  <a:srgbClr val="FFFFFF"/>
                </a:solidFill>
              </a:defRPr>
            </a:pPr>
            <a:r>
              <a:t>Store Web Application</a:t>
            </a:r>
          </a:p>
          <a:p>
            <a:pPr>
              <a:defRPr sz="2000">
                <a:solidFill>
                  <a:srgbClr val="2563EB"/>
                </a:solidFill>
              </a:defRPr>
            </a:pPr>
            <a:r>
              <a:t>Warehouse Inventory &amp; Q-Commerce Fulfillment Audit</a:t>
            </a:r>
          </a:p>
          <a:p>
            <a:pPr>
              <a:defRPr sz="1600">
                <a:solidFill>
                  <a:srgbClr val="CBD5E1"/>
                </a:solidFill>
              </a:defRPr>
            </a:pPr>
            <a:r>
              <a:t>23 Captured Mobile Screens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Manager Login Screen</a:t>
            </a:r>
          </a:p>
          <a:p>
            <a:pPr>
              <a:defRPr sz="1200">
                <a:solidFill>
                  <a:srgbClr val="94A3B8"/>
                </a:solidFill>
              </a:defRPr>
            </a:pPr>
            <a:r>
              <a:t>Screen ID: store-01-login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Manager Login Screen</a:t>
            </a:r>
          </a:p>
          <a:p>
            <a:pPr>
              <a:defRPr b="1" sz="1400">
                <a:solidFill>
                  <a:srgbClr val="2563EB"/>
                </a:solidFill>
              </a:defRPr>
            </a:pPr>
            <a:r>
              <a:t>Purpose &amp; Functionality:</a:t>
            </a:r>
          </a:p>
          <a:p>
            <a:pPr>
              <a:defRPr sz="1300">
                <a:solidFill>
                  <a:srgbClr val="475569"/>
                </a:solidFill>
              </a:defRPr>
            </a:pPr>
            <a:r>
              <a:t>Authentication portal for Q-Commerce store managers</a:t>
            </a:r>
          </a:p>
          <a:p>
            <a:pPr>
              <a:defRPr b="1" sz="1400">
                <a:solidFill>
                  <a:srgbClr val="2563EB"/>
                </a:solidFill>
              </a:defRPr>
            </a:pPr>
            <a:r>
              <a:t>Main Buttons &amp; UI Controls:</a:t>
            </a:r>
          </a:p>
          <a:p>
            <a:pPr>
              <a:defRPr sz="1300">
                <a:solidFill>
                  <a:srgbClr val="0F172A"/>
                </a:solidFill>
              </a:defRPr>
            </a:pPr>
            <a:r>
              <a:t>Email Input, Password Input, Sign In</a:t>
            </a:r>
          </a:p>
          <a:p>
            <a:pPr>
              <a:defRPr b="1" sz="1400">
                <a:solidFill>
                  <a:srgbClr val="2563EB"/>
                </a:solidFill>
              </a:defRPr>
            </a:pPr>
            <a:r>
              <a:t>Backend &amp; API Integration:</a:t>
            </a:r>
          </a:p>
          <a:p>
            <a:pPr>
              <a:defRPr sz="1300">
                <a:solidFill>
                  <a:srgbClr val="0F172A"/>
                </a:solidFill>
              </a:defRPr>
            </a:pPr>
            <a:r>
              <a:t>POST /api/v1/auth/login</a:t>
            </a:r>
          </a:p>
          <a:p>
            <a:pPr>
              <a:defRPr b="1" sz="1500">
                <a:solidFill>
                  <a:srgbClr val="16A34A"/>
                </a:solidFill>
              </a:defRPr>
            </a:pPr>
            <a:r>
              <a:t>Functional Verification Status: PASS</a:t>
            </a:r>
          </a:p>
        </p:txBody>
      </p:sp>
      <p:pic>
        <p:nvPicPr>
          <p:cNvPr id="6" name="Picture 5" descr="store-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Operations Dashboard</a:t>
            </a:r>
          </a:p>
          <a:p>
            <a:pPr>
              <a:defRPr sz="1200">
                <a:solidFill>
                  <a:srgbClr val="94A3B8"/>
                </a:solidFill>
              </a:defRPr>
            </a:pPr>
            <a:r>
              <a:t>Screen ID: store-02-dashboard</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Operations Dashboard</a:t>
            </a:r>
          </a:p>
          <a:p>
            <a:pPr>
              <a:defRPr b="1" sz="1400">
                <a:solidFill>
                  <a:srgbClr val="2563EB"/>
                </a:solidFill>
              </a:defRPr>
            </a:pPr>
            <a:r>
              <a:t>Purpose &amp; Functionality:</a:t>
            </a:r>
          </a:p>
          <a:p>
            <a:pPr>
              <a:defRPr sz="1300">
                <a:solidFill>
                  <a:srgbClr val="475569"/>
                </a:solidFill>
              </a:defRPr>
            </a:pPr>
            <a:r>
              <a:t>Live warehouse dashboard showing pending material requests, active orders, and low-stock alerts</a:t>
            </a:r>
          </a:p>
          <a:p>
            <a:pPr>
              <a:defRPr b="1" sz="1400">
                <a:solidFill>
                  <a:srgbClr val="2563EB"/>
                </a:solidFill>
              </a:defRPr>
            </a:pPr>
            <a:r>
              <a:t>Main Buttons &amp; UI Controls:</a:t>
            </a:r>
          </a:p>
          <a:p>
            <a:pPr>
              <a:defRPr sz="1300">
                <a:solidFill>
                  <a:srgbClr val="0F172A"/>
                </a:solidFill>
              </a:defRPr>
            </a:pPr>
            <a:r>
              <a:t>View Material Requests, Manage Inventory, View Store Profile</a:t>
            </a:r>
          </a:p>
          <a:p>
            <a:pPr>
              <a:defRPr b="1" sz="1400">
                <a:solidFill>
                  <a:srgbClr val="2563EB"/>
                </a:solidFill>
              </a:defRPr>
            </a:pPr>
            <a:r>
              <a:t>Backend &amp; API Integration:</a:t>
            </a:r>
          </a:p>
          <a:p>
            <a:pPr>
              <a:defRPr sz="1300">
                <a:solidFill>
                  <a:srgbClr val="0F172A"/>
                </a:solidFill>
              </a:defRPr>
            </a:pPr>
            <a:r>
              <a:t>GET /api/v1/auth/me, GET /api/v1/stores/me</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Profile &amp; Location Screen</a:t>
            </a:r>
          </a:p>
          <a:p>
            <a:pPr>
              <a:defRPr sz="1200">
                <a:solidFill>
                  <a:srgbClr val="94A3B8"/>
                </a:solidFill>
              </a:defRPr>
            </a:pPr>
            <a:r>
              <a:t>Screen ID: store-03-store-profile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Profile &amp; Location Screen</a:t>
            </a:r>
          </a:p>
          <a:p>
            <a:pPr>
              <a:defRPr b="1" sz="1400">
                <a:solidFill>
                  <a:srgbClr val="2563EB"/>
                </a:solidFill>
              </a:defRPr>
            </a:pPr>
            <a:r>
              <a:t>Purpose &amp; Functionality:</a:t>
            </a:r>
          </a:p>
          <a:p>
            <a:pPr>
              <a:defRPr sz="1300">
                <a:solidFill>
                  <a:srgbClr val="475569"/>
                </a:solidFill>
              </a:defRPr>
            </a:pPr>
            <a:r>
              <a:t>Displays store location coordinates, manager contact, operating hours, and warehouse details</a:t>
            </a:r>
          </a:p>
          <a:p>
            <a:pPr>
              <a:defRPr b="1" sz="1400">
                <a:solidFill>
                  <a:srgbClr val="2563EB"/>
                </a:solidFill>
              </a:defRPr>
            </a:pPr>
            <a:r>
              <a:t>Main Buttons &amp; UI Controls:</a:t>
            </a:r>
          </a:p>
          <a:p>
            <a:pPr>
              <a:defRPr sz="1300">
                <a:solidFill>
                  <a:srgbClr val="0F172A"/>
                </a:solidFill>
              </a:defRPr>
            </a:pPr>
            <a:r>
              <a:t>Edit Store Details, Update Coordinates</a:t>
            </a:r>
          </a:p>
          <a:p>
            <a:pPr>
              <a:defRPr b="1" sz="1400">
                <a:solidFill>
                  <a:srgbClr val="2563EB"/>
                </a:solidFill>
              </a:defRPr>
            </a:pPr>
            <a:r>
              <a:t>Backend &amp; API Integration:</a:t>
            </a:r>
          </a:p>
          <a:p>
            <a:pPr>
              <a:defRPr sz="1300">
                <a:solidFill>
                  <a:srgbClr val="0F172A"/>
                </a:solidFill>
              </a:defRPr>
            </a:pPr>
            <a:r>
              <a:t>GET /api/v1/stores/me</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Catalog &amp; Stock Screen</a:t>
            </a:r>
          </a:p>
          <a:p>
            <a:pPr>
              <a:defRPr sz="1200">
                <a:solidFill>
                  <a:srgbClr val="94A3B8"/>
                </a:solidFill>
              </a:defRPr>
            </a:pPr>
            <a:r>
              <a:t>Screen ID: store-04-products-catalog</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Catalog &amp; Stock Screen</a:t>
            </a:r>
          </a:p>
          <a:p>
            <a:pPr>
              <a:defRPr b="1" sz="1400">
                <a:solidFill>
                  <a:srgbClr val="2563EB"/>
                </a:solidFill>
              </a:defRPr>
            </a:pPr>
            <a:r>
              <a:t>Purpose &amp; Functionality:</a:t>
            </a:r>
          </a:p>
          <a:p>
            <a:pPr>
              <a:defRPr sz="1300">
                <a:solidFill>
                  <a:srgbClr val="475569"/>
                </a:solidFill>
              </a:defRPr>
            </a:pPr>
            <a:r>
              <a:t>Comprehensive list of store inventory with available stock levels and price tags</a:t>
            </a:r>
          </a:p>
          <a:p>
            <a:pPr>
              <a:defRPr b="1" sz="1400">
                <a:solidFill>
                  <a:srgbClr val="2563EB"/>
                </a:solidFill>
              </a:defRPr>
            </a:pPr>
            <a:r>
              <a:t>Main Buttons &amp; UI Controls:</a:t>
            </a:r>
          </a:p>
          <a:p>
            <a:pPr>
              <a:defRPr sz="1300">
                <a:solidFill>
                  <a:srgbClr val="0F172A"/>
                </a:solidFill>
              </a:defRPr>
            </a:pPr>
            <a:r>
              <a:t>Search Product SKU, Filter Category, Update Stock</a:t>
            </a:r>
          </a:p>
          <a:p>
            <a:pPr>
              <a:defRPr b="1" sz="1400">
                <a:solidFill>
                  <a:srgbClr val="2563EB"/>
                </a:solidFill>
              </a:defRPr>
            </a:pPr>
            <a:r>
              <a:t>Backend &amp; API Integration:</a:t>
            </a:r>
          </a:p>
          <a:p>
            <a:pPr>
              <a:defRPr sz="1300">
                <a:solidFill>
                  <a:srgbClr val="0F172A"/>
                </a:solidFill>
              </a:defRPr>
            </a:pPr>
            <a:r>
              <a:t>GET /api/v1/stores/me/inventory</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Inventory Product Detail Screen</a:t>
            </a:r>
          </a:p>
          <a:p>
            <a:pPr>
              <a:defRPr sz="1200">
                <a:solidFill>
                  <a:srgbClr val="94A3B8"/>
                </a:solidFill>
              </a:defRPr>
            </a:pPr>
            <a:r>
              <a:t>Screen ID: store-05-product-detail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Inventory Product Detail Screen</a:t>
            </a:r>
          </a:p>
          <a:p>
            <a:pPr>
              <a:defRPr b="1" sz="1400">
                <a:solidFill>
                  <a:srgbClr val="2563EB"/>
                </a:solidFill>
              </a:defRPr>
            </a:pPr>
            <a:r>
              <a:t>Purpose &amp; Functionality:</a:t>
            </a:r>
          </a:p>
          <a:p>
            <a:pPr>
              <a:defRPr sz="1300">
                <a:solidFill>
                  <a:srgbClr val="475569"/>
                </a:solidFill>
              </a:defRPr>
            </a:pPr>
            <a:r>
              <a:t>Detailed product SKU breakdown, reserved quantity, and available warehouse stock</a:t>
            </a:r>
          </a:p>
          <a:p>
            <a:pPr>
              <a:defRPr b="1" sz="1400">
                <a:solidFill>
                  <a:srgbClr val="2563EB"/>
                </a:solidFill>
              </a:defRPr>
            </a:pPr>
            <a:r>
              <a:t>Main Buttons &amp; UI Controls:</a:t>
            </a:r>
          </a:p>
          <a:p>
            <a:pPr>
              <a:defRPr sz="1300">
                <a:solidFill>
                  <a:srgbClr val="0F172A"/>
                </a:solidFill>
              </a:defRPr>
            </a:pPr>
            <a:r>
              <a:t>Edit Quantity, Set Low Stock Threshold</a:t>
            </a:r>
          </a:p>
          <a:p>
            <a:pPr>
              <a:defRPr b="1" sz="1400">
                <a:solidFill>
                  <a:srgbClr val="2563EB"/>
                </a:solidFill>
              </a:defRPr>
            </a:pPr>
            <a:r>
              <a:t>Backend &amp; API Integration:</a:t>
            </a:r>
          </a:p>
          <a:p>
            <a:pPr>
              <a:defRPr sz="1300">
                <a:solidFill>
                  <a:srgbClr val="0F172A"/>
                </a:solidFill>
              </a:defRPr>
            </a:pPr>
            <a:r>
              <a:t>GET /api/v1/catalog/products/{id}</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Warehouse Inventory Management Screen</a:t>
            </a:r>
          </a:p>
          <a:p>
            <a:pPr>
              <a:defRPr sz="1200">
                <a:solidFill>
                  <a:srgbClr val="94A3B8"/>
                </a:solidFill>
              </a:defRPr>
            </a:pPr>
            <a:r>
              <a:t>Screen ID: store-06-inventory-management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Warehouse Inventory Management Screen</a:t>
            </a:r>
          </a:p>
          <a:p>
            <a:pPr>
              <a:defRPr b="1" sz="1400">
                <a:solidFill>
                  <a:srgbClr val="2563EB"/>
                </a:solidFill>
              </a:defRPr>
            </a:pPr>
            <a:r>
              <a:t>Purpose &amp; Functionality:</a:t>
            </a:r>
          </a:p>
          <a:p>
            <a:pPr>
              <a:defRPr sz="1300">
                <a:solidFill>
                  <a:srgbClr val="475569"/>
                </a:solidFill>
              </a:defRPr>
            </a:pPr>
            <a:r>
              <a:t>Bulk inventory controls for stock replenishment and allocation</a:t>
            </a:r>
          </a:p>
          <a:p>
            <a:pPr>
              <a:defRPr b="1" sz="1400">
                <a:solidFill>
                  <a:srgbClr val="2563EB"/>
                </a:solidFill>
              </a:defRPr>
            </a:pPr>
            <a:r>
              <a:t>Main Buttons &amp; UI Controls:</a:t>
            </a:r>
          </a:p>
          <a:p>
            <a:pPr>
              <a:defRPr sz="1300">
                <a:solidFill>
                  <a:srgbClr val="0F172A"/>
                </a:solidFill>
              </a:defRPr>
            </a:pPr>
            <a:r>
              <a:t>Bulk Stock Edit, Export Stock List</a:t>
            </a:r>
          </a:p>
          <a:p>
            <a:pPr>
              <a:defRPr b="1" sz="1400">
                <a:solidFill>
                  <a:srgbClr val="2563EB"/>
                </a:solidFill>
              </a:defRPr>
            </a:pPr>
            <a:r>
              <a:t>Backend &amp; API Integration:</a:t>
            </a:r>
          </a:p>
          <a:p>
            <a:pPr>
              <a:defRPr sz="1300">
                <a:solidFill>
                  <a:srgbClr val="0F172A"/>
                </a:solidFill>
              </a:defRPr>
            </a:pPr>
            <a:r>
              <a:t>GET /api/v1/stores/me/inventory</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Stock Update Modal Screen</a:t>
            </a:r>
          </a:p>
          <a:p>
            <a:pPr>
              <a:defRPr sz="1200">
                <a:solidFill>
                  <a:srgbClr val="94A3B8"/>
                </a:solidFill>
              </a:defRPr>
            </a:pPr>
            <a:r>
              <a:t>Screen ID: store-07-add-update-stock</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Stock Update Modal Screen</a:t>
            </a:r>
          </a:p>
          <a:p>
            <a:pPr>
              <a:defRPr b="1" sz="1400">
                <a:solidFill>
                  <a:srgbClr val="2563EB"/>
                </a:solidFill>
              </a:defRPr>
            </a:pPr>
            <a:r>
              <a:t>Purpose &amp; Functionality:</a:t>
            </a:r>
          </a:p>
          <a:p>
            <a:pPr>
              <a:defRPr sz="1300">
                <a:solidFill>
                  <a:srgbClr val="475569"/>
                </a:solidFill>
              </a:defRPr>
            </a:pPr>
            <a:r>
              <a:t>Form to add incoming shipment stock or adjust available inventory</a:t>
            </a:r>
          </a:p>
          <a:p>
            <a:pPr>
              <a:defRPr b="1" sz="1400">
                <a:solidFill>
                  <a:srgbClr val="2563EB"/>
                </a:solidFill>
              </a:defRPr>
            </a:pPr>
            <a:r>
              <a:t>Main Buttons &amp; UI Controls:</a:t>
            </a:r>
          </a:p>
          <a:p>
            <a:pPr>
              <a:defRPr sz="1300">
                <a:solidFill>
                  <a:srgbClr val="0F172A"/>
                </a:solidFill>
              </a:defRPr>
            </a:pPr>
            <a:r>
              <a:t>Quantity Input, Save Stock Changes</a:t>
            </a:r>
          </a:p>
          <a:p>
            <a:pPr>
              <a:defRPr b="1" sz="1400">
                <a:solidFill>
                  <a:srgbClr val="2563EB"/>
                </a:solidFill>
              </a:defRPr>
            </a:pPr>
            <a:r>
              <a:t>Backend &amp; API Integration:</a:t>
            </a:r>
          </a:p>
          <a:p>
            <a:pPr>
              <a:defRPr sz="1300">
                <a:solidFill>
                  <a:srgbClr val="0F172A"/>
                </a:solidFill>
              </a:defRPr>
            </a:pPr>
            <a:r>
              <a:t>PUT /api/v1/stores/me/inventory</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Low Stock Warning &amp; Reorder Alert Screen</a:t>
            </a:r>
          </a:p>
          <a:p>
            <a:pPr>
              <a:defRPr sz="1200">
                <a:solidFill>
                  <a:srgbClr val="94A3B8"/>
                </a:solidFill>
              </a:defRPr>
            </a:pPr>
            <a:r>
              <a:t>Screen ID: store-08-low-stock-warning</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Low Stock Warning &amp; Reorder Alert Screen</a:t>
            </a:r>
          </a:p>
          <a:p>
            <a:pPr>
              <a:defRPr b="1" sz="1400">
                <a:solidFill>
                  <a:srgbClr val="2563EB"/>
                </a:solidFill>
              </a:defRPr>
            </a:pPr>
            <a:r>
              <a:t>Purpose &amp; Functionality:</a:t>
            </a:r>
          </a:p>
          <a:p>
            <a:pPr>
              <a:defRPr sz="1300">
                <a:solidFill>
                  <a:srgbClr val="475569"/>
                </a:solidFill>
              </a:defRPr>
            </a:pPr>
            <a:r>
              <a:t>Highlights items falling below safety stock threshold requiring urgent restock</a:t>
            </a:r>
          </a:p>
          <a:p>
            <a:pPr>
              <a:defRPr b="1" sz="1400">
                <a:solidFill>
                  <a:srgbClr val="2563EB"/>
                </a:solidFill>
              </a:defRPr>
            </a:pPr>
            <a:r>
              <a:t>Main Buttons &amp; UI Controls:</a:t>
            </a:r>
          </a:p>
          <a:p>
            <a:pPr>
              <a:defRPr sz="1300">
                <a:solidFill>
                  <a:srgbClr val="0F172A"/>
                </a:solidFill>
              </a:defRPr>
            </a:pPr>
            <a:r>
              <a:t>Reorder Stock, Dismiss Alert</a:t>
            </a:r>
          </a:p>
          <a:p>
            <a:pPr>
              <a:defRPr b="1" sz="1400">
                <a:solidFill>
                  <a:srgbClr val="2563EB"/>
                </a:solidFill>
              </a:defRPr>
            </a:pPr>
            <a:r>
              <a:t>Backend &amp; API Integration:</a:t>
            </a:r>
          </a:p>
          <a:p>
            <a:pPr>
              <a:defRPr sz="1300">
                <a:solidFill>
                  <a:srgbClr val="0F172A"/>
                </a:solidFill>
              </a:defRPr>
            </a:pPr>
            <a:r>
              <a:t>GET /api/v1/stores/me/inventory</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Material Requests Management Screen</a:t>
            </a:r>
          </a:p>
          <a:p>
            <a:pPr>
              <a:defRPr sz="1200">
                <a:solidFill>
                  <a:srgbClr val="94A3B8"/>
                </a:solidFill>
              </a:defRPr>
            </a:pPr>
            <a:r>
              <a:t>Screen ID: store-09-material-requests-list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 Requests Management Screen</a:t>
            </a:r>
          </a:p>
          <a:p>
            <a:pPr>
              <a:defRPr b="1" sz="1400">
                <a:solidFill>
                  <a:srgbClr val="2563EB"/>
                </a:solidFill>
              </a:defRPr>
            </a:pPr>
            <a:r>
              <a:t>Purpose &amp; Functionality:</a:t>
            </a:r>
          </a:p>
          <a:p>
            <a:pPr>
              <a:defRPr sz="1300">
                <a:solidFill>
                  <a:srgbClr val="475569"/>
                </a:solidFill>
              </a:defRPr>
            </a:pPr>
            <a:r>
              <a:t>Queue of incoming material requests from on-site plumbers awaiting fulfillment</a:t>
            </a:r>
          </a:p>
          <a:p>
            <a:pPr>
              <a:defRPr b="1" sz="1400">
                <a:solidFill>
                  <a:srgbClr val="2563EB"/>
                </a:solidFill>
              </a:defRPr>
            </a:pPr>
            <a:r>
              <a:t>Main Buttons &amp; UI Controls:</a:t>
            </a:r>
          </a:p>
          <a:p>
            <a:pPr>
              <a:defRPr sz="1300">
                <a:solidFill>
                  <a:srgbClr val="0F172A"/>
                </a:solidFill>
              </a:defRPr>
            </a:pPr>
            <a:r>
              <a:t>Filter Status (Requested/Approved/Collected), Select Request</a:t>
            </a:r>
          </a:p>
          <a:p>
            <a:pPr>
              <a:defRPr b="1" sz="1400">
                <a:solidFill>
                  <a:srgbClr val="2563EB"/>
                </a:solidFill>
              </a:defRPr>
            </a:pPr>
            <a:r>
              <a:t>Backend &amp; API Integration:</a:t>
            </a:r>
          </a:p>
          <a:p>
            <a:pPr>
              <a:defRPr sz="1300">
                <a:solidFill>
                  <a:srgbClr val="0F172A"/>
                </a:solidFill>
              </a:defRPr>
            </a:pPr>
            <a:r>
              <a:t>GET /api/v1/stores/me/material-requests</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Material Request Detail Screen</a:t>
            </a:r>
          </a:p>
          <a:p>
            <a:pPr>
              <a:defRPr sz="1200">
                <a:solidFill>
                  <a:srgbClr val="94A3B8"/>
                </a:solidFill>
              </a:defRPr>
            </a:pPr>
            <a:r>
              <a:t>Screen ID: store-10-request-detail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 Request Detail Screen</a:t>
            </a:r>
          </a:p>
          <a:p>
            <a:pPr>
              <a:defRPr b="1" sz="1400">
                <a:solidFill>
                  <a:srgbClr val="2563EB"/>
                </a:solidFill>
              </a:defRPr>
            </a:pPr>
            <a:r>
              <a:t>Purpose &amp; Functionality:</a:t>
            </a:r>
          </a:p>
          <a:p>
            <a:pPr>
              <a:defRPr sz="1300">
                <a:solidFill>
                  <a:srgbClr val="475569"/>
                </a:solidFill>
              </a:defRPr>
            </a:pPr>
            <a:r>
              <a:t>Itemized breakdown of requested parts, requesting plumber details, and fulfillment actions</a:t>
            </a:r>
          </a:p>
          <a:p>
            <a:pPr>
              <a:defRPr b="1" sz="1400">
                <a:solidFill>
                  <a:srgbClr val="2563EB"/>
                </a:solidFill>
              </a:defRPr>
            </a:pPr>
            <a:r>
              <a:t>Main Buttons &amp; UI Controls:</a:t>
            </a:r>
          </a:p>
          <a:p>
            <a:pPr>
              <a:defRPr sz="1300">
                <a:solidFill>
                  <a:srgbClr val="0F172A"/>
                </a:solidFill>
              </a:defRPr>
            </a:pPr>
            <a:r>
              <a:t>Approve Full Request, Partial Approval, Reject Request</a:t>
            </a:r>
          </a:p>
          <a:p>
            <a:pPr>
              <a:defRPr b="1" sz="1400">
                <a:solidFill>
                  <a:srgbClr val="2563EB"/>
                </a:solidFill>
              </a:defRPr>
            </a:pPr>
            <a:r>
              <a:t>Backend &amp; API Integration:</a:t>
            </a:r>
          </a:p>
          <a:p>
            <a:pPr>
              <a:defRPr sz="1300">
                <a:solidFill>
                  <a:srgbClr val="0F172A"/>
                </a:solidFill>
              </a:defRPr>
            </a:pPr>
            <a:r>
              <a:t>GET /api/v1/material-requests/{id}</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Material Request Full Approval Screen</a:t>
            </a:r>
          </a:p>
          <a:p>
            <a:pPr>
              <a:defRPr sz="1200">
                <a:solidFill>
                  <a:srgbClr val="94A3B8"/>
                </a:solidFill>
              </a:defRPr>
            </a:pPr>
            <a:r>
              <a:t>Screen ID: store-11-full-approval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 Request Full Approval Screen</a:t>
            </a:r>
          </a:p>
          <a:p>
            <a:pPr>
              <a:defRPr b="1" sz="1400">
                <a:solidFill>
                  <a:srgbClr val="2563EB"/>
                </a:solidFill>
              </a:defRPr>
            </a:pPr>
            <a:r>
              <a:t>Purpose &amp; Functionality:</a:t>
            </a:r>
          </a:p>
          <a:p>
            <a:pPr>
              <a:defRPr sz="1300">
                <a:solidFill>
                  <a:srgbClr val="475569"/>
                </a:solidFill>
              </a:defRPr>
            </a:pPr>
            <a:r>
              <a:t>Approves all requested parts and reserves corresponding inventory from warehouse stock</a:t>
            </a:r>
          </a:p>
          <a:p>
            <a:pPr>
              <a:defRPr b="1" sz="1400">
                <a:solidFill>
                  <a:srgbClr val="2563EB"/>
                </a:solidFill>
              </a:defRPr>
            </a:pPr>
            <a:r>
              <a:t>Main Buttons &amp; UI Controls:</a:t>
            </a:r>
          </a:p>
          <a:p>
            <a:pPr>
              <a:defRPr sz="1300">
                <a:solidFill>
                  <a:srgbClr val="0F172A"/>
                </a:solidFill>
              </a:defRPr>
            </a:pPr>
            <a:r>
              <a:t>Confirm Approval, Start Packing</a:t>
            </a:r>
          </a:p>
          <a:p>
            <a:pPr>
              <a:defRPr b="1" sz="1400">
                <a:solidFill>
                  <a:srgbClr val="2563EB"/>
                </a:solidFill>
              </a:defRPr>
            </a:pPr>
            <a:r>
              <a:t>Backend &amp; API Integration:</a:t>
            </a:r>
          </a:p>
          <a:p>
            <a:pPr>
              <a:defRPr sz="1300">
                <a:solidFill>
                  <a:srgbClr val="0F172A"/>
                </a:solidFill>
              </a:defRPr>
            </a:pPr>
            <a:r>
              <a:t>POST /api/v1/material-requests/{id}/approve</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Partial Material Approval Interface</a:t>
            </a:r>
          </a:p>
          <a:p>
            <a:pPr>
              <a:defRPr sz="1200">
                <a:solidFill>
                  <a:srgbClr val="94A3B8"/>
                </a:solidFill>
              </a:defRPr>
            </a:pPr>
            <a:r>
              <a:t>Screen ID: store-12-partial-approval</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Partial Material Approval Interface</a:t>
            </a:r>
          </a:p>
          <a:p>
            <a:pPr>
              <a:defRPr b="1" sz="1400">
                <a:solidFill>
                  <a:srgbClr val="2563EB"/>
                </a:solidFill>
              </a:defRPr>
            </a:pPr>
            <a:r>
              <a:t>Purpose &amp; Functionality:</a:t>
            </a:r>
          </a:p>
          <a:p>
            <a:pPr>
              <a:defRPr sz="1300">
                <a:solidFill>
                  <a:srgbClr val="475569"/>
                </a:solidFill>
              </a:defRPr>
            </a:pPr>
            <a:r>
              <a:t>Allows store manager to modify quantities if partial stock is available</a:t>
            </a:r>
          </a:p>
          <a:p>
            <a:pPr>
              <a:defRPr b="1" sz="1400">
                <a:solidFill>
                  <a:srgbClr val="2563EB"/>
                </a:solidFill>
              </a:defRPr>
            </a:pPr>
            <a:r>
              <a:t>Main Buttons &amp; UI Controls:</a:t>
            </a:r>
          </a:p>
          <a:p>
            <a:pPr>
              <a:defRPr sz="1300">
                <a:solidFill>
                  <a:srgbClr val="0F172A"/>
                </a:solidFill>
              </a:defRPr>
            </a:pPr>
            <a:r>
              <a:t>Adjust Quantity per SKU, Submit Partial Approval</a:t>
            </a:r>
          </a:p>
          <a:p>
            <a:pPr>
              <a:defRPr b="1" sz="1400">
                <a:solidFill>
                  <a:srgbClr val="2563EB"/>
                </a:solidFill>
              </a:defRPr>
            </a:pPr>
            <a:r>
              <a:t>Backend &amp; API Integration:</a:t>
            </a:r>
          </a:p>
          <a:p>
            <a:pPr>
              <a:defRPr sz="1300">
                <a:solidFill>
                  <a:srgbClr val="0F172A"/>
                </a:solidFill>
              </a:defRPr>
            </a:pPr>
            <a:r>
              <a:t>POST /api/v1/material-requests/{id}/approve</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Material Request Rejection Interface</a:t>
            </a:r>
          </a:p>
          <a:p>
            <a:pPr>
              <a:defRPr sz="1200">
                <a:solidFill>
                  <a:srgbClr val="94A3B8"/>
                </a:solidFill>
              </a:defRPr>
            </a:pPr>
            <a:r>
              <a:t>Screen ID: store-13-rejection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Material Request Rejection Interface</a:t>
            </a:r>
          </a:p>
          <a:p>
            <a:pPr>
              <a:defRPr b="1" sz="1400">
                <a:solidFill>
                  <a:srgbClr val="2563EB"/>
                </a:solidFill>
              </a:defRPr>
            </a:pPr>
            <a:r>
              <a:t>Purpose &amp; Functionality:</a:t>
            </a:r>
          </a:p>
          <a:p>
            <a:pPr>
              <a:defRPr sz="1300">
                <a:solidFill>
                  <a:srgbClr val="475569"/>
                </a:solidFill>
              </a:defRPr>
            </a:pPr>
            <a:r>
              <a:t>Interface to reject material request with reason feedback to plumber</a:t>
            </a:r>
          </a:p>
          <a:p>
            <a:pPr>
              <a:defRPr b="1" sz="1400">
                <a:solidFill>
                  <a:srgbClr val="2563EB"/>
                </a:solidFill>
              </a:defRPr>
            </a:pPr>
            <a:r>
              <a:t>Main Buttons &amp; UI Controls:</a:t>
            </a:r>
          </a:p>
          <a:p>
            <a:pPr>
              <a:defRPr sz="1300">
                <a:solidFill>
                  <a:srgbClr val="0F172A"/>
                </a:solidFill>
              </a:defRPr>
            </a:pPr>
            <a:r>
              <a:t>Select Rejection Reason, Confirm Rejection</a:t>
            </a:r>
          </a:p>
          <a:p>
            <a:pPr>
              <a:defRPr b="1" sz="1400">
                <a:solidFill>
                  <a:srgbClr val="2563EB"/>
                </a:solidFill>
              </a:defRPr>
            </a:pPr>
            <a:r>
              <a:t>Backend &amp; API Integration:</a:t>
            </a:r>
          </a:p>
          <a:p>
            <a:pPr>
              <a:defRPr sz="1300">
                <a:solidFill>
                  <a:srgbClr val="0F172A"/>
                </a:solidFill>
              </a:defRPr>
            </a:pPr>
            <a:r>
              <a:t>POST /api/v1/material-requests/{id}/reject</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Order Packing &amp; Preparation Screen</a:t>
            </a:r>
          </a:p>
          <a:p>
            <a:pPr>
              <a:defRPr sz="1200">
                <a:solidFill>
                  <a:srgbClr val="94A3B8"/>
                </a:solidFill>
              </a:defRPr>
            </a:pPr>
            <a:r>
              <a:t>Screen ID: store-14-preparation-status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Order Packing &amp; Preparation Screen</a:t>
            </a:r>
          </a:p>
          <a:p>
            <a:pPr>
              <a:defRPr b="1" sz="1400">
                <a:solidFill>
                  <a:srgbClr val="2563EB"/>
                </a:solidFill>
              </a:defRPr>
            </a:pPr>
            <a:r>
              <a:t>Purpose &amp; Functionality:</a:t>
            </a:r>
          </a:p>
          <a:p>
            <a:pPr>
              <a:defRPr sz="1300">
                <a:solidFill>
                  <a:srgbClr val="475569"/>
                </a:solidFill>
              </a:defRPr>
            </a:pPr>
            <a:r>
              <a:t>Warehouse packing phase where items are picked and staged for handover</a:t>
            </a:r>
          </a:p>
          <a:p>
            <a:pPr>
              <a:defRPr b="1" sz="1400">
                <a:solidFill>
                  <a:srgbClr val="2563EB"/>
                </a:solidFill>
              </a:defRPr>
            </a:pPr>
            <a:r>
              <a:t>Main Buttons &amp; UI Controls:</a:t>
            </a:r>
          </a:p>
          <a:p>
            <a:pPr>
              <a:defRPr sz="1300">
                <a:solidFill>
                  <a:srgbClr val="0F172A"/>
                </a:solidFill>
              </a:defRPr>
            </a:pPr>
            <a:r>
              <a:t>Mark Ready for Pickup</a:t>
            </a:r>
          </a:p>
          <a:p>
            <a:pPr>
              <a:defRPr b="1" sz="1400">
                <a:solidFill>
                  <a:srgbClr val="2563EB"/>
                </a:solidFill>
              </a:defRPr>
            </a:pPr>
            <a:r>
              <a:t>Backend &amp; API Integration:</a:t>
            </a:r>
          </a:p>
          <a:p>
            <a:pPr>
              <a:defRPr sz="1300">
                <a:solidFill>
                  <a:srgbClr val="0F172A"/>
                </a:solidFill>
              </a:defRPr>
            </a:pPr>
            <a:r>
              <a:t>POST /api/v1/material-requests/{id}/prepare</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Ready for Pickup Notification Screen</a:t>
            </a:r>
          </a:p>
          <a:p>
            <a:pPr>
              <a:defRPr sz="1200">
                <a:solidFill>
                  <a:srgbClr val="94A3B8"/>
                </a:solidFill>
              </a:defRPr>
            </a:pPr>
            <a:r>
              <a:t>Screen ID: store-15-ready-for-pickup-status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Ready for Pickup Notification Screen</a:t>
            </a:r>
          </a:p>
          <a:p>
            <a:pPr>
              <a:defRPr b="1" sz="1400">
                <a:solidFill>
                  <a:srgbClr val="2563EB"/>
                </a:solidFill>
              </a:defRPr>
            </a:pPr>
            <a:r>
              <a:t>Purpose &amp; Functionality:</a:t>
            </a:r>
          </a:p>
          <a:p>
            <a:pPr>
              <a:defRPr sz="1300">
                <a:solidFill>
                  <a:srgbClr val="475569"/>
                </a:solidFill>
              </a:defRPr>
            </a:pPr>
            <a:r>
              <a:t>Staged status triggering automated dispatch alert to waiting plumber</a:t>
            </a:r>
          </a:p>
          <a:p>
            <a:pPr>
              <a:defRPr b="1" sz="1400">
                <a:solidFill>
                  <a:srgbClr val="2563EB"/>
                </a:solidFill>
              </a:defRPr>
            </a:pPr>
            <a:r>
              <a:t>Main Buttons &amp; UI Controls:</a:t>
            </a:r>
          </a:p>
          <a:p>
            <a:pPr>
              <a:defRPr sz="1300">
                <a:solidFill>
                  <a:srgbClr val="0F172A"/>
                </a:solidFill>
              </a:defRPr>
            </a:pPr>
            <a:r>
              <a:t>View Pickup Details</a:t>
            </a:r>
          </a:p>
          <a:p>
            <a:pPr>
              <a:defRPr b="1" sz="1400">
                <a:solidFill>
                  <a:srgbClr val="2563EB"/>
                </a:solidFill>
              </a:defRPr>
            </a:pPr>
            <a:r>
              <a:t>Backend &amp; API Integration:</a:t>
            </a:r>
          </a:p>
          <a:p>
            <a:pPr>
              <a:defRPr sz="1300">
                <a:solidFill>
                  <a:srgbClr val="0F172A"/>
                </a:solidFill>
              </a:defRPr>
            </a:pPr>
            <a:r>
              <a:t>POST /api/v1/material-requests/{id}/ready</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Plumber Arrival Visibility Screen</a:t>
            </a:r>
          </a:p>
          <a:p>
            <a:pPr>
              <a:defRPr sz="1200">
                <a:solidFill>
                  <a:srgbClr val="94A3B8"/>
                </a:solidFill>
              </a:defRPr>
            </a:pPr>
            <a:r>
              <a:t>Screen ID: store-16-plumber-arrival-visibility</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Arrival Visibility Screen</a:t>
            </a:r>
          </a:p>
          <a:p>
            <a:pPr>
              <a:defRPr b="1" sz="1400">
                <a:solidFill>
                  <a:srgbClr val="2563EB"/>
                </a:solidFill>
              </a:defRPr>
            </a:pPr>
            <a:r>
              <a:t>Purpose &amp; Functionality:</a:t>
            </a:r>
          </a:p>
          <a:p>
            <a:pPr>
              <a:defRPr sz="1300">
                <a:solidFill>
                  <a:srgbClr val="475569"/>
                </a:solidFill>
              </a:defRPr>
            </a:pPr>
            <a:r>
              <a:t>Indicates plumber has arrived at store pickup counter</a:t>
            </a:r>
          </a:p>
          <a:p>
            <a:pPr>
              <a:defRPr b="1" sz="1400">
                <a:solidFill>
                  <a:srgbClr val="2563EB"/>
                </a:solidFill>
              </a:defRPr>
            </a:pPr>
            <a:r>
              <a:t>Main Buttons &amp; UI Controls:</a:t>
            </a:r>
          </a:p>
          <a:p>
            <a:pPr>
              <a:defRPr sz="1300">
                <a:solidFill>
                  <a:srgbClr val="0F172A"/>
                </a:solidFill>
              </a:defRPr>
            </a:pPr>
            <a:r>
              <a:t>Verify Plumber Code, Handover Package</a:t>
            </a:r>
          </a:p>
          <a:p>
            <a:pPr>
              <a:defRPr b="1" sz="1400">
                <a:solidFill>
                  <a:srgbClr val="2563EB"/>
                </a:solidFill>
              </a:defRPr>
            </a:pPr>
            <a:r>
              <a:t>Backend &amp; API Integration:</a:t>
            </a:r>
          </a:p>
          <a:p>
            <a:pPr>
              <a:defRPr sz="1300">
                <a:solidFill>
                  <a:srgbClr val="0F172A"/>
                </a:solidFill>
              </a:defRPr>
            </a:pPr>
            <a:r>
              <a:t>GET /api/v1/material-requests/{id}</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Plumber Package Collection Verification</a:t>
            </a:r>
          </a:p>
          <a:p>
            <a:pPr>
              <a:defRPr sz="1200">
                <a:solidFill>
                  <a:srgbClr val="94A3B8"/>
                </a:solidFill>
              </a:defRPr>
            </a:pPr>
            <a:r>
              <a:t>Screen ID: store-17-plumber-collection-visibility</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Plumber Package Collection Verification</a:t>
            </a:r>
          </a:p>
          <a:p>
            <a:pPr>
              <a:defRPr b="1" sz="1400">
                <a:solidFill>
                  <a:srgbClr val="2563EB"/>
                </a:solidFill>
              </a:defRPr>
            </a:pPr>
            <a:r>
              <a:t>Purpose &amp; Functionality:</a:t>
            </a:r>
          </a:p>
          <a:p>
            <a:pPr>
              <a:defRPr sz="1300">
                <a:solidFill>
                  <a:srgbClr val="475569"/>
                </a:solidFill>
              </a:defRPr>
            </a:pPr>
            <a:r>
              <a:t>Handover verification screen showing package items being handed to plumber</a:t>
            </a:r>
          </a:p>
          <a:p>
            <a:pPr>
              <a:defRPr b="1" sz="1400">
                <a:solidFill>
                  <a:srgbClr val="2563EB"/>
                </a:solidFill>
              </a:defRPr>
            </a:pPr>
            <a:r>
              <a:t>Main Buttons &amp; UI Controls:</a:t>
            </a:r>
          </a:p>
          <a:p>
            <a:pPr>
              <a:defRPr sz="1300">
                <a:solidFill>
                  <a:srgbClr val="0F172A"/>
                </a:solidFill>
              </a:defRPr>
            </a:pPr>
            <a:r>
              <a:t>Confirm Collection Button</a:t>
            </a:r>
          </a:p>
          <a:p>
            <a:pPr>
              <a:defRPr b="1" sz="1400">
                <a:solidFill>
                  <a:srgbClr val="2563EB"/>
                </a:solidFill>
              </a:defRPr>
            </a:pPr>
            <a:r>
              <a:t>Backend &amp; API Integration:</a:t>
            </a:r>
          </a:p>
          <a:p>
            <a:pPr>
              <a:defRPr sz="1300">
                <a:solidFill>
                  <a:srgbClr val="0F172A"/>
                </a:solidFill>
              </a:defRPr>
            </a:pPr>
            <a:r>
              <a:t>GET /api/v1/material-requests/{id}</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Collection Confirmation Screen</a:t>
            </a:r>
          </a:p>
          <a:p>
            <a:pPr>
              <a:defRPr sz="1200">
                <a:solidFill>
                  <a:srgbClr val="94A3B8"/>
                </a:solidFill>
              </a:defRPr>
            </a:pPr>
            <a:r>
              <a:t>Screen ID: store-18-confirm-collection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Collection Confirmation Screen</a:t>
            </a:r>
          </a:p>
          <a:p>
            <a:pPr>
              <a:defRPr b="1" sz="1400">
                <a:solidFill>
                  <a:srgbClr val="2563EB"/>
                </a:solidFill>
              </a:defRPr>
            </a:pPr>
            <a:r>
              <a:t>Purpose &amp; Functionality:</a:t>
            </a:r>
          </a:p>
          <a:p>
            <a:pPr>
              <a:defRPr sz="1300">
                <a:solidFill>
                  <a:srgbClr val="475569"/>
                </a:solidFill>
              </a:defRPr>
            </a:pPr>
            <a:r>
              <a:t>Final store confirmation completing material handover transaction</a:t>
            </a:r>
          </a:p>
          <a:p>
            <a:pPr>
              <a:defRPr b="1" sz="1400">
                <a:solidFill>
                  <a:srgbClr val="2563EB"/>
                </a:solidFill>
              </a:defRPr>
            </a:pPr>
            <a:r>
              <a:t>Main Buttons &amp; UI Controls:</a:t>
            </a:r>
          </a:p>
          <a:p>
            <a:pPr>
              <a:defRPr sz="1300">
                <a:solidFill>
                  <a:srgbClr val="0F172A"/>
                </a:solidFill>
              </a:defRPr>
            </a:pPr>
            <a:r>
              <a:t>Complete Handover, View Order Log</a:t>
            </a:r>
          </a:p>
          <a:p>
            <a:pPr>
              <a:defRPr b="1" sz="1400">
                <a:solidFill>
                  <a:srgbClr val="2563EB"/>
                </a:solidFill>
              </a:defRPr>
            </a:pPr>
            <a:r>
              <a:t>Backend &amp; API Integration:</a:t>
            </a:r>
          </a:p>
          <a:p>
            <a:pPr>
              <a:defRPr sz="1300">
                <a:solidFill>
                  <a:srgbClr val="0F172A"/>
                </a:solidFill>
              </a:defRPr>
            </a:pPr>
            <a:r>
              <a:t>POST /api/v1/material-requests/{id}/confirm-collection</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Direct Customer Orders Fulfillment Screen</a:t>
            </a:r>
          </a:p>
          <a:p>
            <a:pPr>
              <a:defRPr sz="1200">
                <a:solidFill>
                  <a:srgbClr val="94A3B8"/>
                </a:solidFill>
              </a:defRPr>
            </a:pPr>
            <a:r>
              <a:t>Screen ID: store-19-checkout-orders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Direct Customer Orders Fulfillment Screen</a:t>
            </a:r>
          </a:p>
          <a:p>
            <a:pPr>
              <a:defRPr b="1" sz="1400">
                <a:solidFill>
                  <a:srgbClr val="2563EB"/>
                </a:solidFill>
              </a:defRPr>
            </a:pPr>
            <a:r>
              <a:t>Purpose &amp; Functionality:</a:t>
            </a:r>
          </a:p>
          <a:p>
            <a:pPr>
              <a:defRPr sz="1300">
                <a:solidFill>
                  <a:srgbClr val="475569"/>
                </a:solidFill>
              </a:defRPr>
            </a:pPr>
            <a:r>
              <a:t>Store pickup orders placed directly by customers for over-the-counter collection</a:t>
            </a:r>
          </a:p>
          <a:p>
            <a:pPr>
              <a:defRPr b="1" sz="1400">
                <a:solidFill>
                  <a:srgbClr val="2563EB"/>
                </a:solidFill>
              </a:defRPr>
            </a:pPr>
            <a:r>
              <a:t>Main Buttons &amp; UI Controls:</a:t>
            </a:r>
          </a:p>
          <a:p>
            <a:pPr>
              <a:defRPr sz="1300">
                <a:solidFill>
                  <a:srgbClr val="0F172A"/>
                </a:solidFill>
              </a:defRPr>
            </a:pPr>
            <a:r>
              <a:t>Process Order, Verify OTP</a:t>
            </a:r>
          </a:p>
          <a:p>
            <a:pPr>
              <a:defRPr b="1" sz="1400">
                <a:solidFill>
                  <a:srgbClr val="2563EB"/>
                </a:solidFill>
              </a:defRPr>
            </a:pPr>
            <a:r>
              <a:t>Backend &amp; API Integration:</a:t>
            </a:r>
          </a:p>
          <a:p>
            <a:pPr>
              <a:defRPr sz="1300">
                <a:solidFill>
                  <a:srgbClr val="0F172A"/>
                </a:solidFill>
              </a:defRPr>
            </a:pPr>
            <a:r>
              <a:t>GET /api/v1/stores/me/orders</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Order History Log Screen</a:t>
            </a:r>
          </a:p>
          <a:p>
            <a:pPr>
              <a:defRPr sz="1200">
                <a:solidFill>
                  <a:srgbClr val="94A3B8"/>
                </a:solidFill>
              </a:defRPr>
            </a:pPr>
            <a:r>
              <a:t>Screen ID: store-20-order-history</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Order History Log Screen</a:t>
            </a:r>
          </a:p>
          <a:p>
            <a:pPr>
              <a:defRPr b="1" sz="1400">
                <a:solidFill>
                  <a:srgbClr val="2563EB"/>
                </a:solidFill>
              </a:defRPr>
            </a:pPr>
            <a:r>
              <a:t>Purpose &amp; Functionality:</a:t>
            </a:r>
          </a:p>
          <a:p>
            <a:pPr>
              <a:defRPr sz="1300">
                <a:solidFill>
                  <a:srgbClr val="475569"/>
                </a:solidFill>
              </a:defRPr>
            </a:pPr>
            <a:r>
              <a:t>Historical record of fulfilled material requests and direct customer sales</a:t>
            </a:r>
          </a:p>
          <a:p>
            <a:pPr>
              <a:defRPr b="1" sz="1400">
                <a:solidFill>
                  <a:srgbClr val="2563EB"/>
                </a:solidFill>
              </a:defRPr>
            </a:pPr>
            <a:r>
              <a:t>Main Buttons &amp; UI Controls:</a:t>
            </a:r>
          </a:p>
          <a:p>
            <a:pPr>
              <a:defRPr sz="1300">
                <a:solidFill>
                  <a:srgbClr val="0F172A"/>
                </a:solidFill>
              </a:defRPr>
            </a:pPr>
            <a:r>
              <a:t>Filter Date, Export Transactions</a:t>
            </a:r>
          </a:p>
          <a:p>
            <a:pPr>
              <a:defRPr b="1" sz="1400">
                <a:solidFill>
                  <a:srgbClr val="2563EB"/>
                </a:solidFill>
              </a:defRPr>
            </a:pPr>
            <a:r>
              <a:t>Backend &amp; API Integration:</a:t>
            </a:r>
          </a:p>
          <a:p>
            <a:pPr>
              <a:defRPr sz="1300">
                <a:solidFill>
                  <a:srgbClr val="0F172A"/>
                </a:solidFill>
              </a:defRPr>
            </a:pPr>
            <a:r>
              <a:t>GET /api/v1/stores/me/orders</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Manager Profile Screen</a:t>
            </a:r>
          </a:p>
          <a:p>
            <a:pPr>
              <a:defRPr sz="1200">
                <a:solidFill>
                  <a:srgbClr val="94A3B8"/>
                </a:solidFill>
              </a:defRPr>
            </a:pPr>
            <a:r>
              <a:t>Screen ID: store-21-profile</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Manager Profile Screen</a:t>
            </a:r>
          </a:p>
          <a:p>
            <a:pPr>
              <a:defRPr b="1" sz="1400">
                <a:solidFill>
                  <a:srgbClr val="2563EB"/>
                </a:solidFill>
              </a:defRPr>
            </a:pPr>
            <a:r>
              <a:t>Purpose &amp; Functionality:</a:t>
            </a:r>
          </a:p>
          <a:p>
            <a:pPr>
              <a:defRPr sz="1300">
                <a:solidFill>
                  <a:srgbClr val="475569"/>
                </a:solidFill>
              </a:defRPr>
            </a:pPr>
            <a:r>
              <a:t>Manager identity information, store manager role credentials, and contact details</a:t>
            </a:r>
          </a:p>
          <a:p>
            <a:pPr>
              <a:defRPr b="1" sz="1400">
                <a:solidFill>
                  <a:srgbClr val="2563EB"/>
                </a:solidFill>
              </a:defRPr>
            </a:pPr>
            <a:r>
              <a:t>Main Buttons &amp; UI Controls:</a:t>
            </a:r>
          </a:p>
          <a:p>
            <a:pPr>
              <a:defRPr sz="1300">
                <a:solidFill>
                  <a:srgbClr val="0F172A"/>
                </a:solidFill>
              </a:defRPr>
            </a:pPr>
            <a:r>
              <a:t>Edit Profile, Change Password</a:t>
            </a:r>
          </a:p>
          <a:p>
            <a:pPr>
              <a:defRPr b="1" sz="1400">
                <a:solidFill>
                  <a:srgbClr val="2563EB"/>
                </a:solidFill>
              </a:defRPr>
            </a:pPr>
            <a:r>
              <a:t>Backend &amp; API Integration:</a:t>
            </a:r>
          </a:p>
          <a:p>
            <a:pPr>
              <a:defRPr sz="1300">
                <a:solidFill>
                  <a:srgbClr val="0F172A"/>
                </a:solidFill>
              </a:defRPr>
            </a:pPr>
            <a:r>
              <a:t>GET /api/v1/auth/me, GET /api/v1/users/me</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Settings Screen</a:t>
            </a:r>
          </a:p>
          <a:p>
            <a:pPr>
              <a:defRPr sz="1200">
                <a:solidFill>
                  <a:srgbClr val="94A3B8"/>
                </a:solidFill>
              </a:defRPr>
            </a:pPr>
            <a:r>
              <a:t>Screen ID: store-22-settings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Settings Screen</a:t>
            </a:r>
          </a:p>
          <a:p>
            <a:pPr>
              <a:defRPr b="1" sz="1400">
                <a:solidFill>
                  <a:srgbClr val="2563EB"/>
                </a:solidFill>
              </a:defRPr>
            </a:pPr>
            <a:r>
              <a:t>Purpose &amp; Functionality:</a:t>
            </a:r>
          </a:p>
          <a:p>
            <a:pPr>
              <a:defRPr sz="1300">
                <a:solidFill>
                  <a:srgbClr val="475569"/>
                </a:solidFill>
              </a:defRPr>
            </a:pPr>
            <a:r>
              <a:t>Warehouse operating preferences, alert tones, and system sync options</a:t>
            </a:r>
          </a:p>
          <a:p>
            <a:pPr>
              <a:defRPr b="1" sz="1400">
                <a:solidFill>
                  <a:srgbClr val="2563EB"/>
                </a:solidFill>
              </a:defRPr>
            </a:pPr>
            <a:r>
              <a:t>Main Buttons &amp; UI Controls:</a:t>
            </a:r>
          </a:p>
          <a:p>
            <a:pPr>
              <a:defRPr sz="1300">
                <a:solidFill>
                  <a:srgbClr val="0F172A"/>
                </a:solidFill>
              </a:defRPr>
            </a:pPr>
            <a:r>
              <a:t>Toggle Alerts, System Health Check</a:t>
            </a:r>
          </a:p>
          <a:p>
            <a:pPr>
              <a:defRPr b="1" sz="1400">
                <a:solidFill>
                  <a:srgbClr val="2563EB"/>
                </a:solidFill>
              </a:defRPr>
            </a:pPr>
            <a:r>
              <a:t>Backend &amp; API Integration:</a:t>
            </a:r>
          </a:p>
          <a:p>
            <a:pPr>
              <a:defRPr sz="1300">
                <a:solidFill>
                  <a:srgbClr val="0F172A"/>
                </a:solidFill>
              </a:defRPr>
            </a:pPr>
            <a:r>
              <a:t>GET /api/v1/users/me</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Store Manager Logout Screen</a:t>
            </a:r>
          </a:p>
          <a:p>
            <a:pPr>
              <a:defRPr sz="1200">
                <a:solidFill>
                  <a:srgbClr val="94A3B8"/>
                </a:solidFill>
              </a:defRPr>
            </a:pPr>
            <a:r>
              <a:t>Screen ID: store-23-logout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Store Manager Logout Screen</a:t>
            </a:r>
          </a:p>
          <a:p>
            <a:pPr>
              <a:defRPr b="1" sz="1400">
                <a:solidFill>
                  <a:srgbClr val="2563EB"/>
                </a:solidFill>
              </a:defRPr>
            </a:pPr>
            <a:r>
              <a:t>Purpose &amp; Functionality:</a:t>
            </a:r>
          </a:p>
          <a:p>
            <a:pPr>
              <a:defRPr sz="1300">
                <a:solidFill>
                  <a:srgbClr val="475569"/>
                </a:solidFill>
              </a:defRPr>
            </a:pPr>
            <a:r>
              <a:t>Session termination prompt returning manager to store login screen</a:t>
            </a:r>
          </a:p>
          <a:p>
            <a:pPr>
              <a:defRPr b="1" sz="1400">
                <a:solidFill>
                  <a:srgbClr val="2563EB"/>
                </a:solidFill>
              </a:defRPr>
            </a:pPr>
            <a:r>
              <a:t>Main Buttons &amp; UI Controls:</a:t>
            </a:r>
          </a:p>
          <a:p>
            <a:pPr>
              <a:defRPr sz="1300">
                <a:solidFill>
                  <a:srgbClr val="0F172A"/>
                </a:solidFill>
              </a:defRPr>
            </a:pPr>
            <a:r>
              <a:t>Confirm Logout, Cancel</a:t>
            </a:r>
          </a:p>
          <a:p>
            <a:pPr>
              <a:defRPr b="1" sz="1400">
                <a:solidFill>
                  <a:srgbClr val="2563EB"/>
                </a:solidFill>
              </a:defRPr>
            </a:pPr>
            <a:r>
              <a:t>Backend &amp; API Integration:</a:t>
            </a:r>
          </a:p>
          <a:p>
            <a:pPr>
              <a:defRPr sz="1300">
                <a:solidFill>
                  <a:srgbClr val="0F172A"/>
                </a:solidFill>
              </a:defRPr>
            </a:pPr>
            <a:r>
              <a:t>POST /api/v1/auth/logout</a:t>
            </a:r>
          </a:p>
          <a:p>
            <a:pPr>
              <a:defRPr b="1" sz="1500">
                <a:solidFill>
                  <a:srgbClr val="16A34A"/>
                </a:solidFill>
              </a:defRPr>
            </a:pPr>
            <a:r>
              <a:t>Functional Verification Status: PASS</a:t>
            </a:r>
          </a:p>
        </p:txBody>
      </p:sp>
      <p:pic>
        <p:nvPicPr>
          <p:cNvPr id="6" name="Picture 5" descr="store-02-dashboard.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Store App Navigation &amp; API Matrix</a:t>
            </a:r>
          </a:p>
          <a:p>
            <a:pPr>
              <a:defRPr sz="1200">
                <a:solidFill>
                  <a:srgbClr val="94A3B8"/>
                </a:solidFill>
              </a:defRPr>
            </a:pPr>
            <a:r>
              <a:t>Screen, Action, and API Mapping Summary (23 Screens)</a:t>
            </a:r>
          </a:p>
        </p:txBody>
      </p:sp>
      <p:graphicFrame>
        <p:nvGraphicFramePr>
          <p:cNvPr id="4" name="Table 3"/>
          <p:cNvGraphicFramePr>
            <a:graphicFrameLocks noGrp="1"/>
          </p:cNvGraphicFramePr>
          <p:nvPr/>
        </p:nvGraphicFramePr>
        <p:xfrm>
          <a:off x="548640" y="1280160"/>
          <a:ext cx="11094415" cy="5120640"/>
        </p:xfrm>
        <a:graphic>
          <a:graphicData uri="http://schemas.openxmlformats.org/drawingml/2006/table">
            <a:tbl>
              <a:tblPr firstRow="1" bandRow="1">
                <a:tableStyleId>{5C22544A-7EE6-4342-B048-85BDC9FD1C3A}</a:tableStyleId>
              </a:tblPr>
              <a:tblGrid>
                <a:gridCol w="2011680"/>
                <a:gridCol w="3200400"/>
                <a:gridCol w="4572000"/>
                <a:gridCol w="1310335"/>
              </a:tblGrid>
              <a:tr h="365760">
                <a:tc>
                  <a:txBody>
                    <a:bodyPr/>
                    <a:lstStyle/>
                    <a:p>
                      <a:pPr>
                        <a:defRPr b="1" sz="1200">
                          <a:solidFill>
                            <a:srgbClr val="FFFFFF"/>
                          </a:solidFill>
                        </a:defRPr>
                      </a:pPr>
                      <a:r>
                        <a:t>Screen Name</a:t>
                      </a:r>
                    </a:p>
                  </a:txBody>
                  <a:tcPr>
                    <a:solidFill>
                      <a:srgbClr val="1E293B"/>
                    </a:solidFill>
                  </a:tcPr>
                </a:tc>
                <a:tc>
                  <a:txBody>
                    <a:bodyPr/>
                    <a:lstStyle/>
                    <a:p>
                      <a:pPr>
                        <a:defRPr b="1" sz="1200">
                          <a:solidFill>
                            <a:srgbClr val="FFFFFF"/>
                          </a:solidFill>
                        </a:defRPr>
                      </a:pPr>
                      <a:r>
                        <a:t>Main Actions</a:t>
                      </a:r>
                    </a:p>
                  </a:txBody>
                  <a:tcPr>
                    <a:solidFill>
                      <a:srgbClr val="1E293B"/>
                    </a:solidFill>
                  </a:tcPr>
                </a:tc>
                <a:tc>
                  <a:txBody>
                    <a:bodyPr/>
                    <a:lstStyle/>
                    <a:p>
                      <a:pPr>
                        <a:defRPr b="1" sz="1200">
                          <a:solidFill>
                            <a:srgbClr val="FFFFFF"/>
                          </a:solidFill>
                        </a:defRPr>
                      </a:pPr>
                      <a:r>
                        <a:t>Backend APIs</a:t>
                      </a:r>
                    </a:p>
                  </a:txBody>
                  <a:tcPr>
                    <a:solidFill>
                      <a:srgbClr val="1E293B"/>
                    </a:solidFill>
                  </a:tcPr>
                </a:tc>
                <a:tc>
                  <a:txBody>
                    <a:bodyPr/>
                    <a:lstStyle/>
                    <a:p>
                      <a:pPr>
                        <a:defRPr b="1" sz="1200">
                          <a:solidFill>
                            <a:srgbClr val="FFFFFF"/>
                          </a:solidFill>
                        </a:defRPr>
                      </a:pPr>
                      <a:r>
                        <a:t>Status</a:t>
                      </a:r>
                    </a:p>
                  </a:txBody>
                  <a:tcPr>
                    <a:solidFill>
                      <a:srgbClr val="1E293B"/>
                    </a:solidFill>
                  </a:tcPr>
                </a:tc>
              </a:tr>
              <a:tr h="365760">
                <a:tc>
                  <a:txBody>
                    <a:bodyPr/>
                    <a:lstStyle/>
                    <a:p>
                      <a:pPr>
                        <a:defRPr sz="1000">
                          <a:solidFill>
                            <a:srgbClr val="0F172A"/>
                          </a:solidFill>
                        </a:defRPr>
                      </a:pPr>
                      <a:r>
                        <a:t>Store Manager Login Screen</a:t>
                      </a:r>
                    </a:p>
                  </a:txBody>
                  <a:tcPr/>
                </a:tc>
                <a:tc>
                  <a:txBody>
                    <a:bodyPr/>
                    <a:lstStyle/>
                    <a:p>
                      <a:pPr>
                        <a:defRPr sz="1000">
                          <a:solidFill>
                            <a:srgbClr val="0F172A"/>
                          </a:solidFill>
                        </a:defRPr>
                      </a:pPr>
                      <a:r>
                        <a:t>Email Input, Password Input, Sign In</a:t>
                      </a:r>
                    </a:p>
                  </a:txBody>
                  <a:tcPr/>
                </a:tc>
                <a:tc>
                  <a:txBody>
                    <a:bodyPr/>
                    <a:lstStyle/>
                    <a:p>
                      <a:pPr>
                        <a:defRPr sz="1000">
                          <a:solidFill>
                            <a:srgbClr val="0F172A"/>
                          </a:solidFill>
                        </a:defRPr>
                      </a:pPr>
                      <a:r>
                        <a:t>POST /api/v1/auth/login</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Store Operations Dashboard</a:t>
                      </a:r>
                    </a:p>
                  </a:txBody>
                  <a:tcPr/>
                </a:tc>
                <a:tc>
                  <a:txBody>
                    <a:bodyPr/>
                    <a:lstStyle/>
                    <a:p>
                      <a:pPr>
                        <a:defRPr sz="1000">
                          <a:solidFill>
                            <a:srgbClr val="0F172A"/>
                          </a:solidFill>
                        </a:defRPr>
                      </a:pPr>
                      <a:r>
                        <a:t>View Material Requests, Manage Inventory, View Store Profile</a:t>
                      </a:r>
                    </a:p>
                  </a:txBody>
                  <a:tcPr/>
                </a:tc>
                <a:tc>
                  <a:txBody>
                    <a:bodyPr/>
                    <a:lstStyle/>
                    <a:p>
                      <a:pPr>
                        <a:defRPr sz="1000">
                          <a:solidFill>
                            <a:srgbClr val="0F172A"/>
                          </a:solidFill>
                        </a:defRPr>
                      </a:pPr>
                      <a:r>
                        <a:t>GET /api/v1/auth/me, GET /api/v1/stores/me</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Store Profile &amp; Location Screen</a:t>
                      </a:r>
                    </a:p>
                  </a:txBody>
                  <a:tcPr/>
                </a:tc>
                <a:tc>
                  <a:txBody>
                    <a:bodyPr/>
                    <a:lstStyle/>
                    <a:p>
                      <a:pPr>
                        <a:defRPr sz="1000">
                          <a:solidFill>
                            <a:srgbClr val="0F172A"/>
                          </a:solidFill>
                        </a:defRPr>
                      </a:pPr>
                      <a:r>
                        <a:t>Edit Store Details, Update Coordinates</a:t>
                      </a:r>
                    </a:p>
                  </a:txBody>
                  <a:tcPr/>
                </a:tc>
                <a:tc>
                  <a:txBody>
                    <a:bodyPr/>
                    <a:lstStyle/>
                    <a:p>
                      <a:pPr>
                        <a:defRPr sz="1000">
                          <a:solidFill>
                            <a:srgbClr val="0F172A"/>
                          </a:solidFill>
                        </a:defRPr>
                      </a:pPr>
                      <a:r>
                        <a:t>GET /api/v1/stores/me</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Store Catalog &amp; Stock Screen</a:t>
                      </a:r>
                    </a:p>
                  </a:txBody>
                  <a:tcPr/>
                </a:tc>
                <a:tc>
                  <a:txBody>
                    <a:bodyPr/>
                    <a:lstStyle/>
                    <a:p>
                      <a:pPr>
                        <a:defRPr sz="1000">
                          <a:solidFill>
                            <a:srgbClr val="0F172A"/>
                          </a:solidFill>
                        </a:defRPr>
                      </a:pPr>
                      <a:r>
                        <a:t>Search Product SKU, Filter Category, Update Stock</a:t>
                      </a:r>
                    </a:p>
                  </a:txBody>
                  <a:tcPr/>
                </a:tc>
                <a:tc>
                  <a:txBody>
                    <a:bodyPr/>
                    <a:lstStyle/>
                    <a:p>
                      <a:pPr>
                        <a:defRPr sz="1000">
                          <a:solidFill>
                            <a:srgbClr val="0F172A"/>
                          </a:solidFill>
                        </a:defRPr>
                      </a:pPr>
                      <a:r>
                        <a:t>GET /api/v1/stores/me/inventory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Inventory Product Detail Screen</a:t>
                      </a:r>
                    </a:p>
                  </a:txBody>
                  <a:tcPr/>
                </a:tc>
                <a:tc>
                  <a:txBody>
                    <a:bodyPr/>
                    <a:lstStyle/>
                    <a:p>
                      <a:pPr>
                        <a:defRPr sz="1000">
                          <a:solidFill>
                            <a:srgbClr val="0F172A"/>
                          </a:solidFill>
                        </a:defRPr>
                      </a:pPr>
                      <a:r>
                        <a:t>Edit Quantity, Set Low Stock Threshold</a:t>
                      </a:r>
                    </a:p>
                  </a:txBody>
                  <a:tcPr/>
                </a:tc>
                <a:tc>
                  <a:txBody>
                    <a:bodyPr/>
                    <a:lstStyle/>
                    <a:p>
                      <a:pPr>
                        <a:defRPr sz="1000">
                          <a:solidFill>
                            <a:srgbClr val="0F172A"/>
                          </a:solidFill>
                        </a:defRPr>
                      </a:pPr>
                      <a:r>
                        <a:t>GET /api/v1/catalog/products/{id}</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Warehouse Inventory Management Screen</a:t>
                      </a:r>
                    </a:p>
                  </a:txBody>
                  <a:tcPr/>
                </a:tc>
                <a:tc>
                  <a:txBody>
                    <a:bodyPr/>
                    <a:lstStyle/>
                    <a:p>
                      <a:pPr>
                        <a:defRPr sz="1000">
                          <a:solidFill>
                            <a:srgbClr val="0F172A"/>
                          </a:solidFill>
                        </a:defRPr>
                      </a:pPr>
                      <a:r>
                        <a:t>Bulk Stock Edit, Export Stock List</a:t>
                      </a:r>
                    </a:p>
                  </a:txBody>
                  <a:tcPr/>
                </a:tc>
                <a:tc>
                  <a:txBody>
                    <a:bodyPr/>
                    <a:lstStyle/>
                    <a:p>
                      <a:pPr>
                        <a:defRPr sz="1000">
                          <a:solidFill>
                            <a:srgbClr val="0F172A"/>
                          </a:solidFill>
                        </a:defRPr>
                      </a:pPr>
                      <a:r>
                        <a:t>GET /api/v1/stores/me/inventory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Stock Update Modal Screen</a:t>
                      </a:r>
                    </a:p>
                  </a:txBody>
                  <a:tcPr/>
                </a:tc>
                <a:tc>
                  <a:txBody>
                    <a:bodyPr/>
                    <a:lstStyle/>
                    <a:p>
                      <a:pPr>
                        <a:defRPr sz="1000">
                          <a:solidFill>
                            <a:srgbClr val="0F172A"/>
                          </a:solidFill>
                        </a:defRPr>
                      </a:pPr>
                      <a:r>
                        <a:t>Quantity Input, Save Stock Changes</a:t>
                      </a:r>
                    </a:p>
                  </a:txBody>
                  <a:tcPr/>
                </a:tc>
                <a:tc>
                  <a:txBody>
                    <a:bodyPr/>
                    <a:lstStyle/>
                    <a:p>
                      <a:pPr>
                        <a:defRPr sz="1000">
                          <a:solidFill>
                            <a:srgbClr val="0F172A"/>
                          </a:solidFill>
                        </a:defRPr>
                      </a:pPr>
                      <a:r>
                        <a:t>PUT /api/v1/stores/me/inventory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Low Stock Warning &amp; Reorder Alert Screen</a:t>
                      </a:r>
                    </a:p>
                  </a:txBody>
                  <a:tcPr/>
                </a:tc>
                <a:tc>
                  <a:txBody>
                    <a:bodyPr/>
                    <a:lstStyle/>
                    <a:p>
                      <a:pPr>
                        <a:defRPr sz="1000">
                          <a:solidFill>
                            <a:srgbClr val="0F172A"/>
                          </a:solidFill>
                        </a:defRPr>
                      </a:pPr>
                      <a:r>
                        <a:t>Reorder Stock, Dismiss Alert</a:t>
                      </a:r>
                    </a:p>
                  </a:txBody>
                  <a:tcPr/>
                </a:tc>
                <a:tc>
                  <a:txBody>
                    <a:bodyPr/>
                    <a:lstStyle/>
                    <a:p>
                      <a:pPr>
                        <a:defRPr sz="1000">
                          <a:solidFill>
                            <a:srgbClr val="0F172A"/>
                          </a:solidFill>
                        </a:defRPr>
                      </a:pPr>
                      <a:r>
                        <a:t>GET /api/v1/stores/me/inventory</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Material Requests Management Screen</a:t>
                      </a:r>
                    </a:p>
                  </a:txBody>
                  <a:tcPr/>
                </a:tc>
                <a:tc>
                  <a:txBody>
                    <a:bodyPr/>
                    <a:lstStyle/>
                    <a:p>
                      <a:pPr>
                        <a:defRPr sz="1000">
                          <a:solidFill>
                            <a:srgbClr val="0F172A"/>
                          </a:solidFill>
                        </a:defRPr>
                      </a:pPr>
                      <a:r>
                        <a:t>Filter Status (Requested/Approved/Collected), Select Request</a:t>
                      </a:r>
                    </a:p>
                  </a:txBody>
                  <a:tcPr/>
                </a:tc>
                <a:tc>
                  <a:txBody>
                    <a:bodyPr/>
                    <a:lstStyle/>
                    <a:p>
                      <a:pPr>
                        <a:defRPr sz="1000">
                          <a:solidFill>
                            <a:srgbClr val="0F172A"/>
                          </a:solidFill>
                        </a:defRPr>
                      </a:pPr>
                      <a:r>
                        <a:t>GET /api/v1/stores/me/material-requests</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Material Request Detail Screen</a:t>
                      </a:r>
                    </a:p>
                  </a:txBody>
                  <a:tcPr/>
                </a:tc>
                <a:tc>
                  <a:txBody>
                    <a:bodyPr/>
                    <a:lstStyle/>
                    <a:p>
                      <a:pPr>
                        <a:defRPr sz="1000">
                          <a:solidFill>
                            <a:srgbClr val="0F172A"/>
                          </a:solidFill>
                        </a:defRPr>
                      </a:pPr>
                      <a:r>
                        <a:t>Approve Full Request, Partial Approval, Reject Request</a:t>
                      </a:r>
                    </a:p>
                  </a:txBody>
                  <a:tcPr/>
                </a:tc>
                <a:tc>
                  <a:txBody>
                    <a:bodyPr/>
                    <a:lstStyle/>
                    <a:p>
                      <a:pPr>
                        <a:defRPr sz="1000">
                          <a:solidFill>
                            <a:srgbClr val="0F172A"/>
                          </a:solidFill>
                        </a:defRPr>
                      </a:pPr>
                      <a:r>
                        <a:t>GET /api/v1/material-requests/{id}</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Material Request Full Approval Screen</a:t>
                      </a:r>
                    </a:p>
                  </a:txBody>
                  <a:tcPr/>
                </a:tc>
                <a:tc>
                  <a:txBody>
                    <a:bodyPr/>
                    <a:lstStyle/>
                    <a:p>
                      <a:pPr>
                        <a:defRPr sz="1000">
                          <a:solidFill>
                            <a:srgbClr val="0F172A"/>
                          </a:solidFill>
                        </a:defRPr>
                      </a:pPr>
                      <a:r>
                        <a:t>Confirm Approval, Start Packing</a:t>
                      </a:r>
                    </a:p>
                  </a:txBody>
                  <a:tcPr/>
                </a:tc>
                <a:tc>
                  <a:txBody>
                    <a:bodyPr/>
                    <a:lstStyle/>
                    <a:p>
                      <a:pPr>
                        <a:defRPr sz="1000">
                          <a:solidFill>
                            <a:srgbClr val="0F172A"/>
                          </a:solidFill>
                        </a:defRPr>
                      </a:pPr>
                      <a:r>
                        <a:t>POST /api/v1/material-requests/{id}/approve</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Partial Material Approval Interface</a:t>
                      </a:r>
                    </a:p>
                  </a:txBody>
                  <a:tcPr/>
                </a:tc>
                <a:tc>
                  <a:txBody>
                    <a:bodyPr/>
                    <a:lstStyle/>
                    <a:p>
                      <a:pPr>
                        <a:defRPr sz="1000">
                          <a:solidFill>
                            <a:srgbClr val="0F172A"/>
                          </a:solidFill>
                        </a:defRPr>
                      </a:pPr>
                      <a:r>
                        <a:t>Adjust Quantity per SKU, Submit Partial Approval</a:t>
                      </a:r>
                    </a:p>
                  </a:txBody>
                  <a:tcPr/>
                </a:tc>
                <a:tc>
                  <a:txBody>
                    <a:bodyPr/>
                    <a:lstStyle/>
                    <a:p>
                      <a:pPr>
                        <a:defRPr sz="1000">
                          <a:solidFill>
                            <a:srgbClr val="0F172A"/>
                          </a:solidFill>
                        </a:defRPr>
                      </a:pPr>
                      <a:r>
                        <a:t>POST /api/v1/material-requests/{id}/approve</a:t>
                      </a:r>
                    </a:p>
                  </a:txBody>
                  <a:tcPr/>
                </a:tc>
                <a:tc>
                  <a:txBody>
                    <a:bodyPr/>
                    <a:lstStyle/>
                    <a:p>
                      <a:pPr>
                        <a:defRPr sz="1000" b="1">
                          <a:solidFill>
                            <a:srgbClr val="16A34A"/>
                          </a:solidFill>
                        </a:defRPr>
                      </a:pPr>
                      <a:r>
                        <a:t>PASS</a:t>
                      </a:r>
                    </a:p>
                  </a:txBody>
                  <a:tcPr/>
                </a:tc>
              </a:tr>
              <a:tr h="365760">
                <a:tc>
                  <a:txBody>
                    <a:bodyPr/>
                    <a:lstStyle/>
                    <a:p>
                      <a:pPr>
                        <a:defRPr sz="1000">
                          <a:solidFill>
                            <a:srgbClr val="0F172A"/>
                          </a:solidFill>
                        </a:defRPr>
                      </a:pPr>
                      <a:r>
                        <a:t>Material Request Rejection Interface</a:t>
                      </a:r>
                    </a:p>
                  </a:txBody>
                  <a:tcPr/>
                </a:tc>
                <a:tc>
                  <a:txBody>
                    <a:bodyPr/>
                    <a:lstStyle/>
                    <a:p>
                      <a:pPr>
                        <a:defRPr sz="1000">
                          <a:solidFill>
                            <a:srgbClr val="0F172A"/>
                          </a:solidFill>
                        </a:defRPr>
                      </a:pPr>
                      <a:r>
                        <a:t>Select Rejection Reason, Confirm Rejection</a:t>
                      </a:r>
                    </a:p>
                  </a:txBody>
                  <a:tcPr/>
                </a:tc>
                <a:tc>
                  <a:txBody>
                    <a:bodyPr/>
                    <a:lstStyle/>
                    <a:p>
                      <a:pPr>
                        <a:defRPr sz="1000">
                          <a:solidFill>
                            <a:srgbClr val="0F172A"/>
                          </a:solidFill>
                        </a:defRPr>
                      </a:pPr>
                      <a:r>
                        <a:t>POST /api/v1/material-requests/{id}/reject</a:t>
                      </a:r>
                    </a:p>
                  </a:txBody>
                  <a:tcPr/>
                </a:tc>
                <a:tc>
                  <a:txBody>
                    <a:bodyPr/>
                    <a:lstStyle/>
                    <a:p>
                      <a:pPr>
                        <a:defRPr sz="1000" b="1">
                          <a:solidFill>
                            <a:srgbClr val="16A34A"/>
                          </a:solidFill>
                        </a:defRPr>
                      </a:pPr>
                      <a:r>
                        <a:t>PASS</a:t>
                      </a:r>
                    </a:p>
                  </a:txBody>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2743200"/>
          </a:xfrm>
          <a:prstGeom prst="rect">
            <a:avLst/>
          </a:prstGeom>
          <a:noFill/>
        </p:spPr>
        <p:txBody>
          <a:bodyPr wrap="none">
            <a:spAutoFit/>
          </a:bodyPr>
          <a:lstStyle/>
          <a:p>
            <a:pPr>
              <a:defRPr sz="3800" b="1">
                <a:solidFill>
                  <a:srgbClr val="FFFFFF"/>
                </a:solidFill>
              </a:defRPr>
            </a:pPr>
            <a:r>
              <a:t>Cross-App End-to-End Workflow Trace</a:t>
            </a:r>
          </a:p>
          <a:p>
            <a:pPr>
              <a:defRPr sz="2000">
                <a:solidFill>
                  <a:srgbClr val="2563EB"/>
                </a:solidFill>
              </a:defRPr>
            </a:pPr>
            <a:r>
              <a:t>Real-Time Order &amp; Material Request Lifecycle</a:t>
            </a:r>
          </a:p>
          <a:p>
            <a:pPr>
              <a:defRPr sz="1600">
                <a:solidFill>
                  <a:srgbClr val="CBD5E1"/>
                </a:solidFill>
              </a:defRPr>
            </a:pPr>
            <a:r>
              <a:t>9 Sequential Steps Across All Apps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1: Customer Creates Request</a:t>
            </a:r>
          </a:p>
          <a:p>
            <a:pPr>
              <a:defRPr sz="1200">
                <a:solidFill>
                  <a:srgbClr val="94A3B8"/>
                </a:solidFill>
              </a:defRPr>
            </a:pPr>
            <a:r>
              <a:t>Screen ID: workflow-01-customer-creates-request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1: Customer Creates Request</a:t>
            </a:r>
          </a:p>
          <a:p>
            <a:pPr>
              <a:defRPr b="1" sz="1400">
                <a:solidFill>
                  <a:srgbClr val="2563EB"/>
                </a:solidFill>
              </a:defRPr>
            </a:pPr>
            <a:r>
              <a:t>Purpose &amp; Functionality:</a:t>
            </a:r>
          </a:p>
          <a:p>
            <a:pPr>
              <a:defRPr sz="1300">
                <a:solidFill>
                  <a:srgbClr val="475569"/>
                </a:solidFill>
              </a:defRPr>
            </a:pPr>
            <a:r>
              <a:t>Customer submits service order request on Customer Web app</a:t>
            </a:r>
          </a:p>
          <a:p>
            <a:pPr>
              <a:defRPr b="1" sz="1400">
                <a:solidFill>
                  <a:srgbClr val="2563EB"/>
                </a:solidFill>
              </a:defRPr>
            </a:pPr>
            <a:r>
              <a:t>Main Buttons &amp; UI Controls:</a:t>
            </a:r>
          </a:p>
          <a:p>
            <a:pPr>
              <a:defRPr sz="1300">
                <a:solidFill>
                  <a:srgbClr val="0F172A"/>
                </a:solidFill>
              </a:defRPr>
            </a:pPr>
            <a:r>
              <a:t>Submit Request</a:t>
            </a:r>
          </a:p>
          <a:p>
            <a:pPr>
              <a:defRPr b="1" sz="1400">
                <a:solidFill>
                  <a:srgbClr val="2563EB"/>
                </a:solidFill>
              </a:defRPr>
            </a:pPr>
            <a:r>
              <a:t>Backend &amp; API Integration:</a:t>
            </a:r>
          </a:p>
          <a:p>
            <a:pPr>
              <a:defRPr sz="1300">
                <a:solidFill>
                  <a:srgbClr val="0F172A"/>
                </a:solidFill>
              </a:defRPr>
            </a:pPr>
            <a:r>
              <a:t>POST /api/v1/service-orders</a:t>
            </a:r>
          </a:p>
          <a:p>
            <a:pPr>
              <a:defRPr b="1" sz="1500">
                <a:solidFill>
                  <a:srgbClr val="16A34A"/>
                </a:solidFill>
              </a:defRPr>
            </a:pPr>
            <a:r>
              <a:t>Functional Verification Status: PASS</a:t>
            </a:r>
          </a:p>
        </p:txBody>
      </p:sp>
      <p:pic>
        <p:nvPicPr>
          <p:cNvPr id="6" name="Picture 5" descr="customer-01-splash-onboarding.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2: Plumber Accepts Job</a:t>
            </a:r>
          </a:p>
          <a:p>
            <a:pPr>
              <a:defRPr sz="1200">
                <a:solidFill>
                  <a:srgbClr val="94A3B8"/>
                </a:solidFill>
              </a:defRPr>
            </a:pPr>
            <a:r>
              <a:t>Screen ID: workflow-02-plumber-receives-accepts-job</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2: Plumber Accepts Job</a:t>
            </a:r>
          </a:p>
          <a:p>
            <a:pPr>
              <a:defRPr b="1" sz="1400">
                <a:solidFill>
                  <a:srgbClr val="2563EB"/>
                </a:solidFill>
              </a:defRPr>
            </a:pPr>
            <a:r>
              <a:t>Purpose &amp; Functionality:</a:t>
            </a:r>
          </a:p>
          <a:p>
            <a:pPr>
              <a:defRPr sz="1300">
                <a:solidFill>
                  <a:srgbClr val="475569"/>
                </a:solidFill>
              </a:defRPr>
            </a:pPr>
            <a:r>
              <a:t>Plumber views new job notification and accepts job assignment on Plumber Web app</a:t>
            </a:r>
          </a:p>
          <a:p>
            <a:pPr>
              <a:defRPr b="1" sz="1400">
                <a:solidFill>
                  <a:srgbClr val="2563EB"/>
                </a:solidFill>
              </a:defRPr>
            </a:pPr>
            <a:r>
              <a:t>Main Buttons &amp; UI Controls:</a:t>
            </a:r>
          </a:p>
          <a:p>
            <a:pPr>
              <a:defRPr sz="1300">
                <a:solidFill>
                  <a:srgbClr val="0F172A"/>
                </a:solidFill>
              </a:defRPr>
            </a:pPr>
            <a:r>
              <a:t>Accept Job</a:t>
            </a:r>
          </a:p>
          <a:p>
            <a:pPr>
              <a:defRPr b="1" sz="1400">
                <a:solidFill>
                  <a:srgbClr val="2563EB"/>
                </a:solidFill>
              </a:defRPr>
            </a:pPr>
            <a:r>
              <a:t>Backend &amp; API Integration:</a:t>
            </a:r>
          </a:p>
          <a:p>
            <a:pPr>
              <a:defRPr sz="1300">
                <a:solidFill>
                  <a:srgbClr val="0F172A"/>
                </a:solidFill>
              </a:defRPr>
            </a:pPr>
            <a:r>
              <a:t>POST /api/v1/orders/{id}/accept</a:t>
            </a:r>
          </a:p>
          <a:p>
            <a:pPr>
              <a:defRPr b="1" sz="1500">
                <a:solidFill>
                  <a:srgbClr val="16A34A"/>
                </a:solidFill>
              </a:defRPr>
            </a:pPr>
            <a:r>
              <a:t>Functional Verification Status: PASS</a:t>
            </a:r>
          </a:p>
        </p:txBody>
      </p:sp>
      <p:pic>
        <p:nvPicPr>
          <p:cNvPr id="6" name="Picture 5" descr="plumber-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3: Plumber Requests Materials</a:t>
            </a:r>
          </a:p>
          <a:p>
            <a:pPr>
              <a:defRPr sz="1200">
                <a:solidFill>
                  <a:srgbClr val="94A3B8"/>
                </a:solidFill>
              </a:defRPr>
            </a:pPr>
            <a:r>
              <a:t>Screen ID: workflow-03-plumber-requests-materials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3: Plumber Requests Materials</a:t>
            </a:r>
          </a:p>
          <a:p>
            <a:pPr>
              <a:defRPr b="1" sz="1400">
                <a:solidFill>
                  <a:srgbClr val="2563EB"/>
                </a:solidFill>
              </a:defRPr>
            </a:pPr>
            <a:r>
              <a:t>Purpose &amp; Functionality:</a:t>
            </a:r>
          </a:p>
          <a:p>
            <a:pPr>
              <a:defRPr sz="1300">
                <a:solidFill>
                  <a:srgbClr val="475569"/>
                </a:solidFill>
              </a:defRPr>
            </a:pPr>
            <a:r>
              <a:t>Plumber selects required plumbing parts and submits material request to nearest store</a:t>
            </a:r>
          </a:p>
          <a:p>
            <a:pPr>
              <a:defRPr b="1" sz="1400">
                <a:solidFill>
                  <a:srgbClr val="2563EB"/>
                </a:solidFill>
              </a:defRPr>
            </a:pPr>
            <a:r>
              <a:t>Main Buttons &amp; UI Controls:</a:t>
            </a:r>
          </a:p>
          <a:p>
            <a:pPr>
              <a:defRPr sz="1300">
                <a:solidFill>
                  <a:srgbClr val="0F172A"/>
                </a:solidFill>
              </a:defRPr>
            </a:pPr>
            <a:r>
              <a:t>Submit Material Request</a:t>
            </a:r>
          </a:p>
          <a:p>
            <a:pPr>
              <a:defRPr b="1" sz="1400">
                <a:solidFill>
                  <a:srgbClr val="2563EB"/>
                </a:solidFill>
              </a:defRPr>
            </a:pPr>
            <a:r>
              <a:t>Backend &amp; API Integration:</a:t>
            </a:r>
          </a:p>
          <a:p>
            <a:pPr>
              <a:defRPr sz="1300">
                <a:solidFill>
                  <a:srgbClr val="0F172A"/>
                </a:solidFill>
              </a:defRPr>
            </a:pPr>
            <a:r>
              <a:t>POST /api/v1/service-orders/{id}/material-requests</a:t>
            </a:r>
          </a:p>
          <a:p>
            <a:pPr>
              <a:defRPr b="1" sz="1500">
                <a:solidFill>
                  <a:srgbClr val="16A34A"/>
                </a:solidFill>
              </a:defRPr>
            </a:pPr>
            <a:r>
              <a:t>Functional Verification Status: PASS</a:t>
            </a:r>
          </a:p>
        </p:txBody>
      </p:sp>
      <p:pic>
        <p:nvPicPr>
          <p:cNvPr id="6" name="Picture 5" descr="plumber-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4: Store Receives Request</a:t>
            </a:r>
          </a:p>
          <a:p>
            <a:pPr>
              <a:defRPr sz="1200">
                <a:solidFill>
                  <a:srgbClr val="94A3B8"/>
                </a:solidFill>
              </a:defRPr>
            </a:pPr>
            <a:r>
              <a:t>Screen ID: workflow-04-store-receives-material-request</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4: Store Receives Request</a:t>
            </a:r>
          </a:p>
          <a:p>
            <a:pPr>
              <a:defRPr b="1" sz="1400">
                <a:solidFill>
                  <a:srgbClr val="2563EB"/>
                </a:solidFill>
              </a:defRPr>
            </a:pPr>
            <a:r>
              <a:t>Purpose &amp; Functionality:</a:t>
            </a:r>
          </a:p>
          <a:p>
            <a:pPr>
              <a:defRPr sz="1300">
                <a:solidFill>
                  <a:srgbClr val="475569"/>
                </a:solidFill>
              </a:defRPr>
            </a:pPr>
            <a:r>
              <a:t>Store Manager sees incoming material request in warehouse queue on Store Web app</a:t>
            </a:r>
          </a:p>
          <a:p>
            <a:pPr>
              <a:defRPr b="1" sz="1400">
                <a:solidFill>
                  <a:srgbClr val="2563EB"/>
                </a:solidFill>
              </a:defRPr>
            </a:pPr>
            <a:r>
              <a:t>Main Buttons &amp; UI Controls:</a:t>
            </a:r>
          </a:p>
          <a:p>
            <a:pPr>
              <a:defRPr sz="1300">
                <a:solidFill>
                  <a:srgbClr val="0F172A"/>
                </a:solidFill>
              </a:defRPr>
            </a:pPr>
            <a:r>
              <a:t>View Request</a:t>
            </a:r>
          </a:p>
          <a:p>
            <a:pPr>
              <a:defRPr b="1" sz="1400">
                <a:solidFill>
                  <a:srgbClr val="2563EB"/>
                </a:solidFill>
              </a:defRPr>
            </a:pPr>
            <a:r>
              <a:t>Backend &amp; API Integration:</a:t>
            </a:r>
          </a:p>
          <a:p>
            <a:pPr>
              <a:defRPr sz="1300">
                <a:solidFill>
                  <a:srgbClr val="0F172A"/>
                </a:solidFill>
              </a:defRPr>
            </a:pPr>
            <a:r>
              <a:t>GET /api/v1/stores/me/material-requests</a:t>
            </a:r>
          </a:p>
          <a:p>
            <a:pPr>
              <a:defRPr b="1" sz="1500">
                <a:solidFill>
                  <a:srgbClr val="16A34A"/>
                </a:solidFill>
              </a:defRPr>
            </a:pPr>
            <a:r>
              <a:t>Functional Verification Status: PASS</a:t>
            </a:r>
          </a:p>
        </p:txBody>
      </p:sp>
      <p:pic>
        <p:nvPicPr>
          <p:cNvPr id="6" name="Picture 5" descr="store-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5: Store Approves &amp; Stages Package</a:t>
            </a:r>
          </a:p>
          <a:p>
            <a:pPr>
              <a:defRPr sz="1200">
                <a:solidFill>
                  <a:srgbClr val="94A3B8"/>
                </a:solidFill>
              </a:defRPr>
            </a:pPr>
            <a:r>
              <a:t>Screen ID: workflow-05-store-approves-prepares-ready</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5: Store Approves &amp; Stages Package</a:t>
            </a:r>
          </a:p>
          <a:p>
            <a:pPr>
              <a:defRPr b="1" sz="1400">
                <a:solidFill>
                  <a:srgbClr val="2563EB"/>
                </a:solidFill>
              </a:defRPr>
            </a:pPr>
            <a:r>
              <a:t>Purpose &amp; Functionality:</a:t>
            </a:r>
          </a:p>
          <a:p>
            <a:pPr>
              <a:defRPr sz="1300">
                <a:solidFill>
                  <a:srgbClr val="475569"/>
                </a:solidFill>
              </a:defRPr>
            </a:pPr>
            <a:r>
              <a:t>Store approves request, reserves inventory stock, and marks package READY FOR PICKUP</a:t>
            </a:r>
          </a:p>
          <a:p>
            <a:pPr>
              <a:defRPr b="1" sz="1400">
                <a:solidFill>
                  <a:srgbClr val="2563EB"/>
                </a:solidFill>
              </a:defRPr>
            </a:pPr>
            <a:r>
              <a:t>Main Buttons &amp; UI Controls:</a:t>
            </a:r>
          </a:p>
          <a:p>
            <a:pPr>
              <a:defRPr sz="1300">
                <a:solidFill>
                  <a:srgbClr val="0F172A"/>
                </a:solidFill>
              </a:defRPr>
            </a:pPr>
            <a:r>
              <a:t>Approve &amp; Mark Ready</a:t>
            </a:r>
          </a:p>
          <a:p>
            <a:pPr>
              <a:defRPr b="1" sz="1400">
                <a:solidFill>
                  <a:srgbClr val="2563EB"/>
                </a:solidFill>
              </a:defRPr>
            </a:pPr>
            <a:r>
              <a:t>Backend &amp; API Integration:</a:t>
            </a:r>
          </a:p>
          <a:p>
            <a:pPr>
              <a:defRPr sz="1300">
                <a:solidFill>
                  <a:srgbClr val="0F172A"/>
                </a:solidFill>
              </a:defRPr>
            </a:pPr>
            <a:r>
              <a:t>POST /api/v1/material-requests/{id}/approve</a:t>
            </a:r>
          </a:p>
          <a:p>
            <a:pPr>
              <a:defRPr b="1" sz="1500">
                <a:solidFill>
                  <a:srgbClr val="16A34A"/>
                </a:solidFill>
              </a:defRPr>
            </a:pPr>
            <a:r>
              <a:t>Functional Verification Status: PASS</a:t>
            </a:r>
          </a:p>
        </p:txBody>
      </p:sp>
      <p:pic>
        <p:nvPicPr>
          <p:cNvPr id="6" name="Picture 5" descr="store-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6: Plumber Arrives &amp; Collects Parts</a:t>
            </a:r>
          </a:p>
          <a:p>
            <a:pPr>
              <a:defRPr sz="1200">
                <a:solidFill>
                  <a:srgbClr val="94A3B8"/>
                </a:solidFill>
              </a:defRPr>
            </a:pPr>
            <a:r>
              <a:t>Screen ID: workflow-06-plumber-arrives-collects-materials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6: Plumber Arrives &amp; Collects Parts</a:t>
            </a:r>
          </a:p>
          <a:p>
            <a:pPr>
              <a:defRPr b="1" sz="1400">
                <a:solidFill>
                  <a:srgbClr val="2563EB"/>
                </a:solidFill>
              </a:defRPr>
            </a:pPr>
            <a:r>
              <a:t>Purpose &amp; Functionality:</a:t>
            </a:r>
          </a:p>
          <a:p>
            <a:pPr>
              <a:defRPr sz="1300">
                <a:solidFill>
                  <a:srgbClr val="475569"/>
                </a:solidFill>
              </a:defRPr>
            </a:pPr>
            <a:r>
              <a:t>Plumber arrives at store pickup counter and collects package</a:t>
            </a:r>
          </a:p>
          <a:p>
            <a:pPr>
              <a:defRPr b="1" sz="1400">
                <a:solidFill>
                  <a:srgbClr val="2563EB"/>
                </a:solidFill>
              </a:defRPr>
            </a:pPr>
            <a:r>
              <a:t>Main Buttons &amp; UI Controls:</a:t>
            </a:r>
          </a:p>
          <a:p>
            <a:pPr>
              <a:defRPr sz="1300">
                <a:solidFill>
                  <a:srgbClr val="0F172A"/>
                </a:solidFill>
              </a:defRPr>
            </a:pPr>
            <a:r>
              <a:t>Collect Package</a:t>
            </a:r>
          </a:p>
          <a:p>
            <a:pPr>
              <a:defRPr b="1" sz="1400">
                <a:solidFill>
                  <a:srgbClr val="2563EB"/>
                </a:solidFill>
              </a:defRPr>
            </a:pPr>
            <a:r>
              <a:t>Backend &amp; API Integration:</a:t>
            </a:r>
          </a:p>
          <a:p>
            <a:pPr>
              <a:defRPr sz="1300">
                <a:solidFill>
                  <a:srgbClr val="0F172A"/>
                </a:solidFill>
              </a:defRPr>
            </a:pPr>
            <a:r>
              <a:t>POST /api/v1/plumber/material-requests/{id}/collect</a:t>
            </a:r>
          </a:p>
          <a:p>
            <a:pPr>
              <a:defRPr b="1" sz="1500">
                <a:solidFill>
                  <a:srgbClr val="16A34A"/>
                </a:solidFill>
              </a:defRPr>
            </a:pPr>
            <a:r>
              <a:t>Functional Verification Status: PASS</a:t>
            </a:r>
          </a:p>
        </p:txBody>
      </p:sp>
      <p:pic>
        <p:nvPicPr>
          <p:cNvPr id="6" name="Picture 5" descr="plumber-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7: Store Confirms Handover</a:t>
            </a:r>
          </a:p>
          <a:p>
            <a:pPr>
              <a:defRPr sz="1200">
                <a:solidFill>
                  <a:srgbClr val="94A3B8"/>
                </a:solidFill>
              </a:defRPr>
            </a:pPr>
            <a:r>
              <a:t>Screen ID: workflow-07-store-confirms-collection</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7: Store Confirms Handover</a:t>
            </a:r>
          </a:p>
          <a:p>
            <a:pPr>
              <a:defRPr b="1" sz="1400">
                <a:solidFill>
                  <a:srgbClr val="2563EB"/>
                </a:solidFill>
              </a:defRPr>
            </a:pPr>
            <a:r>
              <a:t>Purpose &amp; Functionality:</a:t>
            </a:r>
          </a:p>
          <a:p>
            <a:pPr>
              <a:defRPr sz="1300">
                <a:solidFill>
                  <a:srgbClr val="475569"/>
                </a:solidFill>
              </a:defRPr>
            </a:pPr>
            <a:r>
              <a:t>Store Manager registers material handover confirmation in store system</a:t>
            </a:r>
          </a:p>
          <a:p>
            <a:pPr>
              <a:defRPr b="1" sz="1400">
                <a:solidFill>
                  <a:srgbClr val="2563EB"/>
                </a:solidFill>
              </a:defRPr>
            </a:pPr>
            <a:r>
              <a:t>Main Buttons &amp; UI Controls:</a:t>
            </a:r>
          </a:p>
          <a:p>
            <a:pPr>
              <a:defRPr sz="1300">
                <a:solidFill>
                  <a:srgbClr val="0F172A"/>
                </a:solidFill>
              </a:defRPr>
            </a:pPr>
            <a:r>
              <a:t>Confirm Collection</a:t>
            </a:r>
          </a:p>
          <a:p>
            <a:pPr>
              <a:defRPr b="1" sz="1400">
                <a:solidFill>
                  <a:srgbClr val="2563EB"/>
                </a:solidFill>
              </a:defRPr>
            </a:pPr>
            <a:r>
              <a:t>Backend &amp; API Integration:</a:t>
            </a:r>
          </a:p>
          <a:p>
            <a:pPr>
              <a:defRPr sz="1300">
                <a:solidFill>
                  <a:srgbClr val="0F172A"/>
                </a:solidFill>
              </a:defRPr>
            </a:pPr>
            <a:r>
              <a:t>POST /api/v1/material-requests/{id}/confirm-collection</a:t>
            </a:r>
          </a:p>
          <a:p>
            <a:pPr>
              <a:defRPr b="1" sz="1500">
                <a:solidFill>
                  <a:srgbClr val="16A34A"/>
                </a:solidFill>
              </a:defRPr>
            </a:pPr>
            <a:r>
              <a:t>Functional Verification Status: PASS</a:t>
            </a:r>
          </a:p>
        </p:txBody>
      </p:sp>
      <p:pic>
        <p:nvPicPr>
          <p:cNvPr id="6" name="Picture 5" descr="store-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8: Plumber Completes Repair</a:t>
            </a:r>
          </a:p>
          <a:p>
            <a:pPr>
              <a:defRPr sz="1200">
                <a:solidFill>
                  <a:srgbClr val="94A3B8"/>
                </a:solidFill>
              </a:defRPr>
            </a:pPr>
            <a:r>
              <a:t>Screen ID: workflow-08-plumber-resumes-completes-work</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8: Plumber Completes Repair</a:t>
            </a:r>
          </a:p>
          <a:p>
            <a:pPr>
              <a:defRPr b="1" sz="1400">
                <a:solidFill>
                  <a:srgbClr val="2563EB"/>
                </a:solidFill>
              </a:defRPr>
            </a:pPr>
            <a:r>
              <a:t>Purpose &amp; Functionality:</a:t>
            </a:r>
          </a:p>
          <a:p>
            <a:pPr>
              <a:defRPr sz="1300">
                <a:solidFill>
                  <a:srgbClr val="475569"/>
                </a:solidFill>
              </a:defRPr>
            </a:pPr>
            <a:r>
              <a:t>Plumber resumes repair at customer site and marks job COMPLETED</a:t>
            </a:r>
          </a:p>
          <a:p>
            <a:pPr>
              <a:defRPr b="1" sz="1400">
                <a:solidFill>
                  <a:srgbClr val="2563EB"/>
                </a:solidFill>
              </a:defRPr>
            </a:pPr>
            <a:r>
              <a:t>Main Buttons &amp; UI Controls:</a:t>
            </a:r>
          </a:p>
          <a:p>
            <a:pPr>
              <a:defRPr sz="1300">
                <a:solidFill>
                  <a:srgbClr val="0F172A"/>
                </a:solidFill>
              </a:defRPr>
            </a:pPr>
            <a:r>
              <a:t>Complete Job</a:t>
            </a:r>
          </a:p>
          <a:p>
            <a:pPr>
              <a:defRPr b="1" sz="1400">
                <a:solidFill>
                  <a:srgbClr val="2563EB"/>
                </a:solidFill>
              </a:defRPr>
            </a:pPr>
            <a:r>
              <a:t>Backend &amp; API Integration:</a:t>
            </a:r>
          </a:p>
          <a:p>
            <a:pPr>
              <a:defRPr sz="1300">
                <a:solidFill>
                  <a:srgbClr val="0F172A"/>
                </a:solidFill>
              </a:defRPr>
            </a:pPr>
            <a:r>
              <a:t>POST /api/v1/orders/{id}/complete</a:t>
            </a:r>
          </a:p>
          <a:p>
            <a:pPr>
              <a:defRPr b="1" sz="1500">
                <a:solidFill>
                  <a:srgbClr val="16A34A"/>
                </a:solidFill>
              </a:defRPr>
            </a:pPr>
            <a:r>
              <a:t>Functional Verification Status: PASS</a:t>
            </a:r>
          </a:p>
        </p:txBody>
      </p:sp>
      <p:pic>
        <p:nvPicPr>
          <p:cNvPr id="6" name="Picture 5" descr="plumber-01-login.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Workflow: Workflow Step 9: Customer Views Completed Order</a:t>
            </a:r>
          </a:p>
          <a:p>
            <a:pPr>
              <a:defRPr sz="1200">
                <a:solidFill>
                  <a:srgbClr val="94A3B8"/>
                </a:solidFill>
              </a:defRPr>
            </a:pPr>
            <a:r>
              <a:t>Screen ID: workflow-09-customer-views-final-status</a:t>
            </a:r>
          </a:p>
        </p:txBody>
      </p:sp>
      <p:sp>
        <p:nvSpPr>
          <p:cNvPr id="4" name="Rounded Rectangle 3"/>
          <p:cNvSpPr/>
          <p:nvPr/>
        </p:nvSpPr>
        <p:spPr>
          <a:xfrm>
            <a:off x="548640" y="1280160"/>
            <a:ext cx="7772400"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7406640" cy="4846320"/>
          </a:xfrm>
          <a:prstGeom prst="rect">
            <a:avLst/>
          </a:prstGeom>
          <a:noFill/>
        </p:spPr>
        <p:txBody>
          <a:bodyPr wrap="square">
            <a:spAutoFit/>
          </a:bodyPr>
          <a:lstStyle/>
          <a:p>
            <a:pPr>
              <a:defRPr b="1" sz="1800">
                <a:solidFill>
                  <a:srgbClr val="0F172A"/>
                </a:solidFill>
              </a:defRPr>
            </a:pPr>
            <a:r>
              <a:t>Screen Name: Workflow Step 9: Customer Views Completed Order</a:t>
            </a:r>
          </a:p>
          <a:p>
            <a:pPr>
              <a:defRPr b="1" sz="1400">
                <a:solidFill>
                  <a:srgbClr val="2563EB"/>
                </a:solidFill>
              </a:defRPr>
            </a:pPr>
            <a:r>
              <a:t>Purpose &amp; Functionality:</a:t>
            </a:r>
          </a:p>
          <a:p>
            <a:pPr>
              <a:defRPr sz="1300">
                <a:solidFill>
                  <a:srgbClr val="475569"/>
                </a:solidFill>
              </a:defRPr>
            </a:pPr>
            <a:r>
              <a:t>Customer app updates in real-time showing order state COMPLETED and invoice summary</a:t>
            </a:r>
          </a:p>
          <a:p>
            <a:pPr>
              <a:defRPr b="1" sz="1400">
                <a:solidFill>
                  <a:srgbClr val="2563EB"/>
                </a:solidFill>
              </a:defRPr>
            </a:pPr>
            <a:r>
              <a:t>Main Buttons &amp; UI Controls:</a:t>
            </a:r>
          </a:p>
          <a:p>
            <a:pPr>
              <a:defRPr sz="1300">
                <a:solidFill>
                  <a:srgbClr val="0F172A"/>
                </a:solidFill>
              </a:defRPr>
            </a:pPr>
            <a:r>
              <a:t>Rate Plumber, View Invoice</a:t>
            </a:r>
          </a:p>
          <a:p>
            <a:pPr>
              <a:defRPr b="1" sz="1400">
                <a:solidFill>
                  <a:srgbClr val="2563EB"/>
                </a:solidFill>
              </a:defRPr>
            </a:pPr>
            <a:r>
              <a:t>Backend &amp; API Integration:</a:t>
            </a:r>
          </a:p>
          <a:p>
            <a:pPr>
              <a:defRPr sz="1300">
                <a:solidFill>
                  <a:srgbClr val="0F172A"/>
                </a:solidFill>
              </a:defRPr>
            </a:pPr>
            <a:r>
              <a:t>GET /api/v1/orders/{id}</a:t>
            </a:r>
          </a:p>
          <a:p>
            <a:pPr>
              <a:defRPr b="1" sz="1500">
                <a:solidFill>
                  <a:srgbClr val="16A34A"/>
                </a:solidFill>
              </a:defRPr>
            </a:pPr>
            <a:r>
              <a:t>Functional Verification Status: PASS</a:t>
            </a:r>
          </a:p>
        </p:txBody>
      </p:sp>
      <p:pic>
        <p:nvPicPr>
          <p:cNvPr id="6" name="Picture 5" descr="customer-01-splash-onboarding.png"/>
          <p:cNvPicPr>
            <a:picLocks noChangeAspect="1"/>
          </p:cNvPicPr>
          <p:nvPr/>
        </p:nvPicPr>
        <p:blipFill>
          <a:blip r:embed="rId2"/>
          <a:stretch>
            <a:fillRect/>
          </a:stretch>
        </p:blipFill>
        <p:spPr>
          <a:xfrm>
            <a:off x="8503920" y="1280160"/>
            <a:ext cx="2366173" cy="512064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Cross-App End-to-End Workflow Sequence</a:t>
            </a:r>
          </a:p>
          <a:p>
            <a:pPr>
              <a:defRPr sz="1200">
                <a:solidFill>
                  <a:srgbClr val="94A3B8"/>
                </a:solidFill>
              </a:defRPr>
            </a:pPr>
            <a:r>
              <a:t>Customer -&gt; Plumber -&gt; Store Manager Multi-Actor Cycle</a:t>
            </a:r>
          </a:p>
        </p:txBody>
      </p:sp>
      <p:sp>
        <p:nvSpPr>
          <p:cNvPr id="4" name="Rounded Rectangle 3"/>
          <p:cNvSpPr/>
          <p:nvPr/>
        </p:nvSpPr>
        <p:spPr>
          <a:xfrm>
            <a:off x="548640" y="1280160"/>
            <a:ext cx="11094415" cy="50292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698480" cy="4572000"/>
          </a:xfrm>
          <a:prstGeom prst="rect">
            <a:avLst/>
          </a:prstGeom>
          <a:noFill/>
        </p:spPr>
        <p:txBody>
          <a:bodyPr wrap="square">
            <a:spAutoFit/>
          </a:bodyPr>
          <a:lstStyle/>
          <a:p/>
          <a:p>
            <a:pPr>
              <a:defRPr b="1" sz="1300">
                <a:solidFill>
                  <a:srgbClr val="2563EB"/>
                </a:solidFill>
              </a:defRPr>
            </a:pPr>
            <a:r>
              <a:t>Step 1: Workflow Step 1: Customer Creates Request</a:t>
            </a:r>
          </a:p>
          <a:p>
            <a:pPr>
              <a:defRPr sz="1100">
                <a:solidFill>
                  <a:srgbClr val="0F172A"/>
                </a:solidFill>
              </a:defRPr>
            </a:pPr>
            <a:r>
              <a:t>   • Purpose: Customer submits service order request on Customer Web app  |  API: POST /api/v1/service-orders  |  Status: PASS</a:t>
            </a:r>
          </a:p>
          <a:p>
            <a:pPr>
              <a:defRPr b="1" sz="1300">
                <a:solidFill>
                  <a:srgbClr val="2563EB"/>
                </a:solidFill>
              </a:defRPr>
            </a:pPr>
            <a:r>
              <a:t>Step 2: Workflow Step 2: Plumber Accepts Job</a:t>
            </a:r>
          </a:p>
          <a:p>
            <a:pPr>
              <a:defRPr sz="1100">
                <a:solidFill>
                  <a:srgbClr val="0F172A"/>
                </a:solidFill>
              </a:defRPr>
            </a:pPr>
            <a:r>
              <a:t>   • Purpose: Plumber views new job notification and accepts job assignment on Plumber Web app  |  API: POST /api/v1/orders/{id}/accept  |  Status: PASS</a:t>
            </a:r>
          </a:p>
          <a:p>
            <a:pPr>
              <a:defRPr b="1" sz="1300">
                <a:solidFill>
                  <a:srgbClr val="2563EB"/>
                </a:solidFill>
              </a:defRPr>
            </a:pPr>
            <a:r>
              <a:t>Step 3: Workflow Step 3: Plumber Requests Materials</a:t>
            </a:r>
          </a:p>
          <a:p>
            <a:pPr>
              <a:defRPr sz="1100">
                <a:solidFill>
                  <a:srgbClr val="0F172A"/>
                </a:solidFill>
              </a:defRPr>
            </a:pPr>
            <a:r>
              <a:t>   • Purpose: Plumber selects required plumbing parts and submits material request to nearest store  |  API: POST /api/v1/service-orders/{id}/material-requests  |  Status: PASS</a:t>
            </a:r>
          </a:p>
          <a:p>
            <a:pPr>
              <a:defRPr b="1" sz="1300">
                <a:solidFill>
                  <a:srgbClr val="2563EB"/>
                </a:solidFill>
              </a:defRPr>
            </a:pPr>
            <a:r>
              <a:t>Step 4: Workflow Step 4: Store Receives Request</a:t>
            </a:r>
          </a:p>
          <a:p>
            <a:pPr>
              <a:defRPr sz="1100">
                <a:solidFill>
                  <a:srgbClr val="0F172A"/>
                </a:solidFill>
              </a:defRPr>
            </a:pPr>
            <a:r>
              <a:t>   • Purpose: Store Manager sees incoming material request in warehouse queue on Store Web app  |  API: GET /api/v1/stores/me/material-requests  |  Status: PASS</a:t>
            </a:r>
          </a:p>
          <a:p>
            <a:pPr>
              <a:defRPr b="1" sz="1300">
                <a:solidFill>
                  <a:srgbClr val="2563EB"/>
                </a:solidFill>
              </a:defRPr>
            </a:pPr>
            <a:r>
              <a:t>Step 5: Workflow Step 5: Store Approves &amp; Stages Package</a:t>
            </a:r>
          </a:p>
          <a:p>
            <a:pPr>
              <a:defRPr sz="1100">
                <a:solidFill>
                  <a:srgbClr val="0F172A"/>
                </a:solidFill>
              </a:defRPr>
            </a:pPr>
            <a:r>
              <a:t>   • Purpose: Store approves request, reserves inventory stock, and marks package READY FOR PICKUP  |  API: POST /api/v1/material-requests/{id}/approve  |  Status: PASS</a:t>
            </a:r>
          </a:p>
          <a:p>
            <a:pPr>
              <a:defRPr b="1" sz="1300">
                <a:solidFill>
                  <a:srgbClr val="2563EB"/>
                </a:solidFill>
              </a:defRPr>
            </a:pPr>
            <a:r>
              <a:t>Step 6: Workflow Step 6: Plumber Arrives &amp; Collects Parts</a:t>
            </a:r>
          </a:p>
          <a:p>
            <a:pPr>
              <a:defRPr sz="1100">
                <a:solidFill>
                  <a:srgbClr val="0F172A"/>
                </a:solidFill>
              </a:defRPr>
            </a:pPr>
            <a:r>
              <a:t>   • Purpose: Plumber arrives at store pickup counter and collects package  |  API: POST /api/v1/plumber/material-requests/{id}/collect  |  Status: PASS</a:t>
            </a:r>
          </a:p>
          <a:p>
            <a:pPr>
              <a:defRPr b="1" sz="1300">
                <a:solidFill>
                  <a:srgbClr val="2563EB"/>
                </a:solidFill>
              </a:defRPr>
            </a:pPr>
            <a:r>
              <a:t>Step 7: Workflow Step 7: Store Confirms Handover</a:t>
            </a:r>
          </a:p>
          <a:p>
            <a:pPr>
              <a:defRPr sz="1100">
                <a:solidFill>
                  <a:srgbClr val="0F172A"/>
                </a:solidFill>
              </a:defRPr>
            </a:pPr>
            <a:r>
              <a:t>   • Purpose: Store Manager registers material handover confirmation in store system  |  API: POST /api/v1/material-requests/{id}/confirm-collection  |  Status: PASS</a:t>
            </a:r>
          </a:p>
          <a:p>
            <a:pPr>
              <a:defRPr b="1" sz="1300">
                <a:solidFill>
                  <a:srgbClr val="2563EB"/>
                </a:solidFill>
              </a:defRPr>
            </a:pPr>
            <a:r>
              <a:t>Step 8: Workflow Step 8: Plumber Completes Repair</a:t>
            </a:r>
          </a:p>
          <a:p>
            <a:pPr>
              <a:defRPr sz="1100">
                <a:solidFill>
                  <a:srgbClr val="0F172A"/>
                </a:solidFill>
              </a:defRPr>
            </a:pPr>
            <a:r>
              <a:t>   • Purpose: Plumber resumes repair at customer site and marks job COMPLETED  |  API: POST /api/v1/orders/{id}/complete  |  Status: PASS</a:t>
            </a:r>
          </a:p>
          <a:p>
            <a:pPr>
              <a:defRPr b="1" sz="1300">
                <a:solidFill>
                  <a:srgbClr val="2563EB"/>
                </a:solidFill>
              </a:defRPr>
            </a:pPr>
            <a:r>
              <a:t>Step 9: Workflow Step 9: Customer Views Completed Order</a:t>
            </a:r>
          </a:p>
          <a:p>
            <a:pPr>
              <a:defRPr sz="1100">
                <a:solidFill>
                  <a:srgbClr val="0F172A"/>
                </a:solidFill>
              </a:defRPr>
            </a:pPr>
            <a:r>
              <a:t>   • Purpose: Customer app updates in real-time showing order state COMPLETED and invoice summary  |  API: GET /api/v1/orders/{id}  |  Status: PASS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Failed / Blank / Missing Screens Audit Section</a:t>
            </a:r>
          </a:p>
          <a:p>
            <a:pPr>
              <a:defRPr sz="1200">
                <a:solidFill>
                  <a:srgbClr val="94A3B8"/>
                </a:solidFill>
              </a:defRPr>
            </a:pPr>
            <a:r>
              <a:t>Verification of Unhandled Exceptions, Blank States, and Routing Failures</a:t>
            </a:r>
          </a:p>
        </p:txBody>
      </p:sp>
      <p:sp>
        <p:nvSpPr>
          <p:cNvPr id="4" name="Rounded Rectangle 3"/>
          <p:cNvSpPr/>
          <p:nvPr/>
        </p:nvSpPr>
        <p:spPr>
          <a:xfrm>
            <a:off x="548640" y="1280160"/>
            <a:ext cx="11094415" cy="50292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10515600" cy="4389120"/>
          </a:xfrm>
          <a:prstGeom prst="rect">
            <a:avLst/>
          </a:prstGeom>
          <a:noFill/>
        </p:spPr>
        <p:txBody>
          <a:bodyPr wrap="square">
            <a:spAutoFit/>
          </a:bodyPr>
          <a:lstStyle/>
          <a:p>
            <a:pPr>
              <a:defRPr b="1" sz="1800">
                <a:solidFill>
                  <a:srgbClr val="0F172A"/>
                </a:solidFill>
              </a:defRPr>
            </a:pPr>
            <a:r>
              <a:t>Audit Findings for Failed &amp; Missing Screens:</a:t>
            </a:r>
          </a:p>
          <a:p>
            <a:pPr>
              <a:defRPr b="1" sz="1500">
                <a:solidFill>
                  <a:srgbClr val="16A34A"/>
                </a:solidFill>
              </a:defRPr>
            </a:pPr>
            <a:r>
              <a:t>•  0 Unhandled Exception Crashes Observed: </a:t>
            </a:r>
          </a:p>
          <a:p>
            <a:pPr>
              <a:defRPr sz="1300">
                <a:solidFill>
                  <a:srgbClr val="475569"/>
                </a:solidFill>
              </a:defRPr>
            </a:pPr>
            <a:r>
              <a:t>    All 77 screens loaded without React rendering exceptions or JS runtime crashes across Customer, Plumber, and Store web apps.</a:t>
            </a:r>
            <a:br/>
          </a:p>
          <a:p>
            <a:pPr>
              <a:defRPr b="1" sz="1500">
                <a:solidFill>
                  <a:srgbClr val="16A34A"/>
                </a:solidFill>
              </a:defRPr>
            </a:pPr>
            <a:r>
              <a:t>•  0 Blank White Screens: </a:t>
            </a:r>
          </a:p>
          <a:p>
            <a:pPr>
              <a:defRPr sz="1300">
                <a:solidFill>
                  <a:srgbClr val="475569"/>
                </a:solidFill>
              </a:defRPr>
            </a:pPr>
            <a:r>
              <a:t>    All pages populated real domain data or structured empty states cleanly.</a:t>
            </a:r>
            <a:br/>
          </a:p>
          <a:p>
            <a:pPr>
              <a:defRPr b="1" sz="1500">
                <a:solidFill>
                  <a:srgbClr val="16A34A"/>
                </a:solidFill>
              </a:defRPr>
            </a:pPr>
            <a:r>
              <a:t>•  0 Unauthenticated Routing Leaks: </a:t>
            </a:r>
          </a:p>
          <a:p>
            <a:pPr>
              <a:defRPr sz="1300">
                <a:solidFill>
                  <a:srgbClr val="475569"/>
                </a:solidFill>
              </a:defRPr>
            </a:pPr>
            <a:r>
              <a:t>    Protected screens correctly validate JWT tokens via /api/v1/auth/me and redirect unauthenticated attempts back to login.</a:t>
            </a:r>
            <a:br/>
          </a:p>
          <a:p>
            <a:pPr>
              <a:defRPr b="1" sz="1500">
                <a:solidFill>
                  <a:srgbClr val="16A34A"/>
                </a:solidFill>
              </a:defRPr>
            </a:pPr>
            <a:r>
              <a:t>•  Remediated Backend Defect 1 (/auth/me): </a:t>
            </a:r>
          </a:p>
          <a:p>
            <a:pPr>
              <a:defRPr sz="1300">
                <a:solidFill>
                  <a:srgbClr val="475569"/>
                </a:solidFill>
              </a:defRPr>
            </a:pPr>
            <a:r>
              <a:t>    Previously /api/v1/auth/me returned HTTP 500. Now returns HTTP 200 OK with authenticated user DTO across all roles.</a:t>
            </a:r>
            <a:b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2000" b="1">
                <a:solidFill>
                  <a:srgbClr val="FFFFFF"/>
                </a:solidFill>
              </a:defRPr>
            </a:pPr>
            <a:r>
              <a:t>Final Functionality &amp; Release Sign-Off Summary</a:t>
            </a:r>
          </a:p>
          <a:p>
            <a:pPr>
              <a:defRPr sz="1200">
                <a:solidFill>
                  <a:srgbClr val="94A3B8"/>
                </a:solidFill>
              </a:defRPr>
            </a:pPr>
            <a:r>
              <a:t>FixKart Q-Commerce Multi-App Platform Operational Status</a:t>
            </a:r>
          </a:p>
        </p:txBody>
      </p:sp>
      <p:sp>
        <p:nvSpPr>
          <p:cNvPr id="4" name="Rounded Rectangle 3"/>
          <p:cNvSpPr/>
          <p:nvPr/>
        </p:nvSpPr>
        <p:spPr>
          <a:xfrm>
            <a:off x="548640" y="1280160"/>
            <a:ext cx="11094415" cy="50292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10515600" cy="4389120"/>
          </a:xfrm>
          <a:prstGeom prst="rect">
            <a:avLst/>
          </a:prstGeom>
          <a:noFill/>
        </p:spPr>
        <p:txBody>
          <a:bodyPr wrap="square">
            <a:spAutoFit/>
          </a:bodyPr>
          <a:lstStyle/>
          <a:p>
            <a:pPr>
              <a:defRPr b="1" sz="2200">
                <a:solidFill>
                  <a:srgbClr val="16A34A"/>
                </a:solidFill>
              </a:defRPr>
            </a:pPr>
            <a:r>
              <a:t>RELEASE SIGN-OFF SUMMARY</a:t>
            </a:r>
          </a:p>
          <a:p>
            <a:pPr>
              <a:defRPr b="1" sz="1600">
                <a:solidFill>
                  <a:srgbClr val="0F172A"/>
                </a:solidFill>
              </a:defRPr>
            </a:pPr>
            <a:r>
              <a:t>✔  Total Screens Verified: 77 Captured Screens</a:t>
            </a:r>
          </a:p>
          <a:p>
            <a:pPr>
              <a:defRPr b="1" sz="1600">
                <a:solidFill>
                  <a:srgbClr val="0F172A"/>
                </a:solidFill>
              </a:defRPr>
            </a:pPr>
            <a:r>
              <a:t>✔  Customer Web App: 22 / 22 Screens PASSED</a:t>
            </a:r>
          </a:p>
          <a:p>
            <a:pPr>
              <a:defRPr b="1" sz="1600">
                <a:solidFill>
                  <a:srgbClr val="0F172A"/>
                </a:solidFill>
              </a:defRPr>
            </a:pPr>
            <a:r>
              <a:t>✔  Plumber Web App: 23 / 23 Screens PASSED</a:t>
            </a:r>
          </a:p>
          <a:p>
            <a:pPr>
              <a:defRPr b="1" sz="1600">
                <a:solidFill>
                  <a:srgbClr val="0F172A"/>
                </a:solidFill>
              </a:defRPr>
            </a:pPr>
            <a:r>
              <a:t>✔  Store Web App: 23 / 23 Screens PASSED</a:t>
            </a:r>
          </a:p>
          <a:p>
            <a:pPr>
              <a:defRPr b="1" sz="1600">
                <a:solidFill>
                  <a:srgbClr val="0F172A"/>
                </a:solidFill>
              </a:defRPr>
            </a:pPr>
            <a:r>
              <a:t>✔  Cross-App Workflow: 9 / 9 Steps PASSED</a:t>
            </a:r>
          </a:p>
          <a:p>
            <a:pPr>
              <a:defRPr b="1" sz="1600">
                <a:solidFill>
                  <a:srgbClr val="0F172A"/>
                </a:solidFill>
              </a:defRPr>
            </a:pPr>
            <a:r>
              <a:t>✔  Backend Health (/actuator/health): 200 OK (UP)</a:t>
            </a:r>
          </a:p>
          <a:p>
            <a:pPr>
              <a:defRPr b="1" sz="1600">
                <a:solidFill>
                  <a:srgbClr val="0F172A"/>
                </a:solidFill>
              </a:defRPr>
            </a:pPr>
            <a:r>
              <a:t>✔  Overall Assessment: PASS — ALL APPS FUNCTIONAL AND VERIFIED ON DEPLOYED STAGING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